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4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BFBFBF"/>
    <a:srgbClr val="A9D18E"/>
    <a:srgbClr val="AD6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 Pareek" userId="8aed32e9148fceba" providerId="LiveId" clId="{443ADDAA-EE69-44EF-8A37-900BF3994D34}"/>
    <pc:docChg chg="custSel delSld modSld">
      <pc:chgData name="Ankit Pareek" userId="8aed32e9148fceba" providerId="LiveId" clId="{443ADDAA-EE69-44EF-8A37-900BF3994D34}" dt="2026-02-05T08:32:28.773" v="149" actId="2696"/>
      <pc:docMkLst>
        <pc:docMk/>
      </pc:docMkLst>
      <pc:sldChg chg="addSp delSp modSp del mod">
        <pc:chgData name="Ankit Pareek" userId="8aed32e9148fceba" providerId="LiveId" clId="{443ADDAA-EE69-44EF-8A37-900BF3994D34}" dt="2026-02-05T08:32:28.773" v="149" actId="2696"/>
        <pc:sldMkLst>
          <pc:docMk/>
          <pc:sldMk cId="0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b="1" i="0" dirty="0">
                <a:solidFill>
                  <a:schemeClr val="tx1"/>
                </a:solidFill>
                <a:effectLst/>
              </a:rPr>
              <a:t>Monthly Order Breakdown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Successful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</c:v>
                </c:pt>
                <c:pt idx="1">
                  <c:v>114</c:v>
                </c:pt>
                <c:pt idx="2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CC-4739-81D2-288DD47566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Cancelled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Sheet1!$A$2:$A$5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11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CC-4739-81D2-288DD47566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44096815"/>
        <c:axId val="1344099695"/>
      </c:barChart>
      <c:catAx>
        <c:axId val="13440968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4099695"/>
        <c:crosses val="autoZero"/>
        <c:auto val="1"/>
        <c:lblAlgn val="ctr"/>
        <c:lblOffset val="100"/>
        <c:noMultiLvlLbl val="0"/>
      </c:catAx>
      <c:valAx>
        <c:axId val="1344099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Number</a:t>
                </a:r>
                <a:r>
                  <a:rPr lang="en-US" baseline="0" dirty="0"/>
                  <a:t> of Orders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40968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Cancellation Reasons (Q1)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Cancelled orders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048-4632-BD5C-30D6983B8F6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2B9-4056-8577-F5AC22C2E6B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2B9-4056-8577-F5AC22C2E6B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2B9-4056-8577-F5AC22C2E6B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
ItemUnavailable</c:v>
                </c:pt>
                <c:pt idx="1">
                  <c:v>High Order Volume</c:v>
                </c:pt>
                <c:pt idx="2">
                  <c:v>Unexpected Closure</c:v>
                </c:pt>
                <c:pt idx="3">
                  <c:v>Operational Issues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16</c:v>
                </c:pt>
                <c:pt idx="2">
                  <c:v>9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48-4632-BD5C-30D6983B8F6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76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AC01-41F3-2517-6A0C-5EC60DE9F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EC944-49FD-5B44-5503-2D9BA9800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D2683-62FA-95E7-43E7-932362B40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05A35-EC0C-E0D1-7097-73E97A8C2C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930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A9C9C40-44B5-8E43-1D4F-2142F4BFC467}"/>
              </a:ext>
            </a:extLst>
          </p:cNvPr>
          <p:cNvSpPr/>
          <p:nvPr/>
        </p:nvSpPr>
        <p:spPr>
          <a:xfrm>
            <a:off x="3710440" y="2236531"/>
            <a:ext cx="2035180" cy="2224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229AB6-7B78-E618-E843-C6B2FB42630D}"/>
              </a:ext>
            </a:extLst>
          </p:cNvPr>
          <p:cNvSpPr/>
          <p:nvPr/>
        </p:nvSpPr>
        <p:spPr>
          <a:xfrm>
            <a:off x="5811798" y="2236531"/>
            <a:ext cx="2035180" cy="2224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9EE106-09B8-DBC5-B067-AB79FCA5F53B}"/>
              </a:ext>
            </a:extLst>
          </p:cNvPr>
          <p:cNvSpPr/>
          <p:nvPr/>
        </p:nvSpPr>
        <p:spPr>
          <a:xfrm>
            <a:off x="1608385" y="2236531"/>
            <a:ext cx="2035180" cy="2224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457200" y="561212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Solving the </a:t>
            </a:r>
            <a:r>
              <a:rPr lang="en-US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 Drop 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9544" y="147697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data-driven investigation into declining order counts and customer NPS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BDE4D262-5C61-AE1E-C378-CBEB204D06A6}"/>
              </a:ext>
            </a:extLst>
          </p:cNvPr>
          <p:cNvSpPr/>
          <p:nvPr/>
        </p:nvSpPr>
        <p:spPr>
          <a:xfrm>
            <a:off x="3099881" y="156069"/>
            <a:ext cx="2516221" cy="797668"/>
          </a:xfrm>
          <a:prstGeom prst="flowChartTerminator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FoodSwift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C683B50-5E71-95EE-8243-439DE1AAFE25}"/>
              </a:ext>
            </a:extLst>
          </p:cNvPr>
          <p:cNvSpPr/>
          <p:nvPr/>
        </p:nvSpPr>
        <p:spPr>
          <a:xfrm>
            <a:off x="3307404" y="246859"/>
            <a:ext cx="654996" cy="580845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FS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86A8CBB-56DD-1DC7-990E-C0ED7A98B9E8}"/>
              </a:ext>
            </a:extLst>
          </p:cNvPr>
          <p:cNvGrpSpPr/>
          <p:nvPr/>
        </p:nvGrpSpPr>
        <p:grpSpPr>
          <a:xfrm>
            <a:off x="1608385" y="2220973"/>
            <a:ext cx="6238593" cy="2208739"/>
            <a:chOff x="1927220" y="2778692"/>
            <a:chExt cx="5919758" cy="2208739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2D8E3C6-BC95-1342-6375-A5997FB0B73B}"/>
                </a:ext>
              </a:extLst>
            </p:cNvPr>
            <p:cNvSpPr/>
            <p:nvPr/>
          </p:nvSpPr>
          <p:spPr>
            <a:xfrm>
              <a:off x="1927220" y="4085617"/>
              <a:ext cx="1873051" cy="901814"/>
            </a:xfrm>
            <a:custGeom>
              <a:avLst/>
              <a:gdLst>
                <a:gd name="csX0" fmla="*/ 0 w 1817092"/>
                <a:gd name="csY0" fmla="*/ 0 h 674141"/>
                <a:gd name="csX1" fmla="*/ 1817092 w 1817092"/>
                <a:gd name="csY1" fmla="*/ 0 h 674141"/>
                <a:gd name="csX2" fmla="*/ 1817092 w 1817092"/>
                <a:gd name="csY2" fmla="*/ 674141 h 674141"/>
                <a:gd name="csX3" fmla="*/ 0 w 1817092"/>
                <a:gd name="csY3" fmla="*/ 674141 h 674141"/>
                <a:gd name="csX4" fmla="*/ 0 w 1817092"/>
                <a:gd name="csY4" fmla="*/ 0 h 674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17092" h="674141">
                  <a:moveTo>
                    <a:pt x="0" y="0"/>
                  </a:moveTo>
                  <a:lnTo>
                    <a:pt x="1817092" y="0"/>
                  </a:lnTo>
                  <a:lnTo>
                    <a:pt x="1817092" y="674141"/>
                  </a:lnTo>
                  <a:lnTo>
                    <a:pt x="0" y="67414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78232" rIns="78232" bIns="0" numCol="1" spcCol="1270" anchor="t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b="1" i="0" kern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-12.5%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400" b="0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Orders/Month Drop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400" b="0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3.2 → 2.8 orders</a:t>
              </a:r>
              <a:endParaRPr lang="en-IN" sz="14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93F91F1-0861-EF81-4E06-D0BD278124A6}"/>
                </a:ext>
              </a:extLst>
            </p:cNvPr>
            <p:cNvSpPr/>
            <p:nvPr/>
          </p:nvSpPr>
          <p:spPr>
            <a:xfrm>
              <a:off x="3926099" y="4085617"/>
              <a:ext cx="1817092" cy="811024"/>
            </a:xfrm>
            <a:custGeom>
              <a:avLst/>
              <a:gdLst>
                <a:gd name="csX0" fmla="*/ 0 w 1817092"/>
                <a:gd name="csY0" fmla="*/ 0 h 674141"/>
                <a:gd name="csX1" fmla="*/ 1817092 w 1817092"/>
                <a:gd name="csY1" fmla="*/ 0 h 674141"/>
                <a:gd name="csX2" fmla="*/ 1817092 w 1817092"/>
                <a:gd name="csY2" fmla="*/ 674141 h 674141"/>
                <a:gd name="csX3" fmla="*/ 0 w 1817092"/>
                <a:gd name="csY3" fmla="*/ 674141 h 674141"/>
                <a:gd name="csX4" fmla="*/ 0 w 1817092"/>
                <a:gd name="csY4" fmla="*/ 0 h 674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17092" h="674141">
                  <a:moveTo>
                    <a:pt x="0" y="0"/>
                  </a:moveTo>
                  <a:lnTo>
                    <a:pt x="1817092" y="0"/>
                  </a:lnTo>
                  <a:lnTo>
                    <a:pt x="1817092" y="674141"/>
                  </a:lnTo>
                  <a:lnTo>
                    <a:pt x="0" y="67414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78232" rIns="78232" bIns="0" numCol="1" spcCol="1270" anchor="t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b="1" i="0" kern="1200" dirty="0">
                  <a:solidFill>
                    <a:srgbClr val="AD63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-7 pts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400" b="0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NPS Decline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400" b="0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42 → 35 NPS</a:t>
              </a:r>
              <a:endParaRPr lang="en-IN" sz="14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834AA78-657C-4E0F-CABD-26DB0396F0D0}"/>
                </a:ext>
              </a:extLst>
            </p:cNvPr>
            <p:cNvSpPr/>
            <p:nvPr/>
          </p:nvSpPr>
          <p:spPr>
            <a:xfrm>
              <a:off x="5924977" y="4085617"/>
              <a:ext cx="1922001" cy="901814"/>
            </a:xfrm>
            <a:custGeom>
              <a:avLst/>
              <a:gdLst>
                <a:gd name="csX0" fmla="*/ 0 w 1817092"/>
                <a:gd name="csY0" fmla="*/ 0 h 674141"/>
                <a:gd name="csX1" fmla="*/ 1817092 w 1817092"/>
                <a:gd name="csY1" fmla="*/ 0 h 674141"/>
                <a:gd name="csX2" fmla="*/ 1817092 w 1817092"/>
                <a:gd name="csY2" fmla="*/ 674141 h 674141"/>
                <a:gd name="csX3" fmla="*/ 0 w 1817092"/>
                <a:gd name="csY3" fmla="*/ 674141 h 674141"/>
                <a:gd name="csX4" fmla="*/ 0 w 1817092"/>
                <a:gd name="csY4" fmla="*/ 0 h 674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17092" h="674141">
                  <a:moveTo>
                    <a:pt x="0" y="0"/>
                  </a:moveTo>
                  <a:lnTo>
                    <a:pt x="1817092" y="0"/>
                  </a:lnTo>
                  <a:lnTo>
                    <a:pt x="1817092" y="674141"/>
                  </a:lnTo>
                  <a:lnTo>
                    <a:pt x="0" y="67414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78232" rIns="78232" bIns="0" numCol="1" spcCol="1270" anchor="t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b="1" i="0" kern="12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Goal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400" b="0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Restore Growth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400" b="0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Increase retention</a:t>
              </a:r>
              <a:endParaRPr lang="en-IN" sz="14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" name="Graphic 15" descr="Target with solid fill">
              <a:extLst>
                <a:ext uri="{FF2B5EF4-FFF2-40B4-BE49-F238E27FC236}">
                  <a16:creationId xmlns:a16="http://schemas.microsoft.com/office/drawing/2014/main" id="{2BBE308E-159E-75B7-D019-F1D725B21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52588" y="2778692"/>
              <a:ext cx="1361871" cy="1361871"/>
            </a:xfrm>
            <a:prstGeom prst="rect">
              <a:avLst/>
            </a:prstGeom>
          </p:spPr>
        </p:pic>
        <p:pic>
          <p:nvPicPr>
            <p:cNvPr id="18" name="Graphic 17" descr="Warning with solid fill">
              <a:extLst>
                <a:ext uri="{FF2B5EF4-FFF2-40B4-BE49-F238E27FC236}">
                  <a16:creationId xmlns:a16="http://schemas.microsoft.com/office/drawing/2014/main" id="{548249F2-AC36-15E6-02F6-6BB47CDAF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51451" y="2866734"/>
              <a:ext cx="1185787" cy="1185787"/>
            </a:xfrm>
            <a:prstGeom prst="rect">
              <a:avLst/>
            </a:prstGeom>
          </p:spPr>
        </p:pic>
        <p:pic>
          <p:nvPicPr>
            <p:cNvPr id="20" name="Graphic 19" descr="Downward trend graph with solid fill">
              <a:extLst>
                <a:ext uri="{FF2B5EF4-FFF2-40B4-BE49-F238E27FC236}">
                  <a16:creationId xmlns:a16="http://schemas.microsoft.com/office/drawing/2014/main" id="{EF62E5D5-7C1F-4940-DB9F-77AEFF591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314919" y="2866734"/>
              <a:ext cx="1185787" cy="1185787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532764A-8F5B-67E2-BF87-8E0E8152B520}"/>
              </a:ext>
            </a:extLst>
          </p:cNvPr>
          <p:cNvSpPr txBox="1"/>
          <p:nvPr/>
        </p:nvSpPr>
        <p:spPr>
          <a:xfrm>
            <a:off x="-2672" y="4582288"/>
            <a:ext cx="9144000" cy="52322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Platform Context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50,000 restaurant partners • 25 cities • 2M MAU • ₹450 AOV • ~35,000 daily orders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E1511-CA41-4774-D549-B752BB862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3029737-07E8-8323-FA6A-50E6F39F8131}"/>
              </a:ext>
            </a:extLst>
          </p:cNvPr>
          <p:cNvSpPr/>
          <p:nvPr/>
        </p:nvSpPr>
        <p:spPr>
          <a:xfrm>
            <a:off x="583659" y="1015568"/>
            <a:ext cx="8411183" cy="66451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F8A6ED3-864B-FAFD-DED6-834640C03AEA}"/>
              </a:ext>
            </a:extLst>
          </p:cNvPr>
          <p:cNvSpPr/>
          <p:nvPr/>
        </p:nvSpPr>
        <p:spPr>
          <a:xfrm>
            <a:off x="538263" y="4972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 Cause Discovery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E381AD-83EE-E802-F4C3-6126A4563989}"/>
              </a:ext>
            </a:extLst>
          </p:cNvPr>
          <p:cNvSpPr/>
          <p:nvPr/>
        </p:nvSpPr>
        <p:spPr>
          <a:xfrm>
            <a:off x="457200" y="60376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Analyzing order data reveals a critical pattern: Restaurant cancellations spiked dramatically in March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F58383-3453-87BD-B89C-BF5A4B91B5C0}"/>
              </a:ext>
            </a:extLst>
          </p:cNvPr>
          <p:cNvCxnSpPr>
            <a:cxnSpLocks/>
          </p:cNvCxnSpPr>
          <p:nvPr/>
        </p:nvCxnSpPr>
        <p:spPr>
          <a:xfrm flipH="1">
            <a:off x="583659" y="1015568"/>
            <a:ext cx="1" cy="66451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89A92EEF-DE53-CA55-0A20-9E5732D7C8D9}"/>
              </a:ext>
            </a:extLst>
          </p:cNvPr>
          <p:cNvSpPr/>
          <p:nvPr/>
        </p:nvSpPr>
        <p:spPr>
          <a:xfrm>
            <a:off x="794660" y="1060964"/>
            <a:ext cx="558190" cy="518042"/>
          </a:xfrm>
          <a:prstGeom prst="flowChartConnector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raphic 10" descr="Downward trend graph with solid fill">
            <a:extLst>
              <a:ext uri="{FF2B5EF4-FFF2-40B4-BE49-F238E27FC236}">
                <a16:creationId xmlns:a16="http://schemas.microsoft.com/office/drawing/2014/main" id="{D71FFED6-511C-F82A-0FA9-B2884CEFD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465" y="1092170"/>
            <a:ext cx="411498" cy="4114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D702BAA-56FE-660C-8713-C97985044934}"/>
              </a:ext>
            </a:extLst>
          </p:cNvPr>
          <p:cNvSpPr txBox="1"/>
          <p:nvPr/>
        </p:nvSpPr>
        <p:spPr>
          <a:xfrm>
            <a:off x="1581892" y="1099326"/>
            <a:ext cx="7412949" cy="444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FINDING: Cancellation Rate Jumped from </a:t>
            </a:r>
            <a:r>
              <a:rPr lang="en-US" sz="1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7% to 33%</a:t>
            </a:r>
          </a:p>
          <a:p>
            <a:pPr algn="l">
              <a:lnSpc>
                <a:spcPct val="120000"/>
              </a:lnSpc>
              <a:buNone/>
            </a:pPr>
            <a:r>
              <a:rPr lang="en-US" sz="1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Restaurant-side cancellations increased by </a:t>
            </a:r>
            <a:r>
              <a:rPr lang="en-US" sz="1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378%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1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 January to March, directly causing the order count decline and NPS drop.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93CE386B-2B9B-82A3-2394-B19EAF9797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0580262"/>
              </p:ext>
            </p:extLst>
          </p:nvPr>
        </p:nvGraphicFramePr>
        <p:xfrm>
          <a:off x="538263" y="1624403"/>
          <a:ext cx="4192622" cy="24114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9B20CC1B-0F3A-2D54-F8A0-417488366D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0899383"/>
              </p:ext>
            </p:extLst>
          </p:nvPr>
        </p:nvGraphicFramePr>
        <p:xfrm>
          <a:off x="4572000" y="1680085"/>
          <a:ext cx="4422842" cy="2249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97EFFEF-5A56-9081-EB34-746CD7920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10797"/>
              </p:ext>
            </p:extLst>
          </p:nvPr>
        </p:nvGraphicFramePr>
        <p:xfrm>
          <a:off x="1212714" y="3976674"/>
          <a:ext cx="7474085" cy="1029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817">
                  <a:extLst>
                    <a:ext uri="{9D8B030D-6E8A-4147-A177-3AD203B41FA5}">
                      <a16:colId xmlns:a16="http://schemas.microsoft.com/office/drawing/2014/main" val="1027788914"/>
                    </a:ext>
                  </a:extLst>
                </a:gridCol>
                <a:gridCol w="1494817">
                  <a:extLst>
                    <a:ext uri="{9D8B030D-6E8A-4147-A177-3AD203B41FA5}">
                      <a16:colId xmlns:a16="http://schemas.microsoft.com/office/drawing/2014/main" val="724204419"/>
                    </a:ext>
                  </a:extLst>
                </a:gridCol>
                <a:gridCol w="1494817">
                  <a:extLst>
                    <a:ext uri="{9D8B030D-6E8A-4147-A177-3AD203B41FA5}">
                      <a16:colId xmlns:a16="http://schemas.microsoft.com/office/drawing/2014/main" val="4085769576"/>
                    </a:ext>
                  </a:extLst>
                </a:gridCol>
                <a:gridCol w="1494817">
                  <a:extLst>
                    <a:ext uri="{9D8B030D-6E8A-4147-A177-3AD203B41FA5}">
                      <a16:colId xmlns:a16="http://schemas.microsoft.com/office/drawing/2014/main" val="2497334954"/>
                    </a:ext>
                  </a:extLst>
                </a:gridCol>
                <a:gridCol w="1494817">
                  <a:extLst>
                    <a:ext uri="{9D8B030D-6E8A-4147-A177-3AD203B41FA5}">
                      <a16:colId xmlns:a16="http://schemas.microsoft.com/office/drawing/2014/main" val="3392477500"/>
                    </a:ext>
                  </a:extLst>
                </a:gridCol>
              </a:tblGrid>
              <a:tr h="343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>
                          <a:solidFill>
                            <a:schemeClr val="tx1"/>
                          </a:solidFill>
                          <a:effectLst/>
                        </a:rPr>
                        <a:t>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>
                          <a:solidFill>
                            <a:schemeClr val="tx1"/>
                          </a:solidFill>
                          <a:effectLst/>
                        </a:rPr>
                        <a:t>Total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>
                          <a:solidFill>
                            <a:schemeClr val="tx1"/>
                          </a:solidFill>
                          <a:effectLst/>
                        </a:rPr>
                        <a:t>Successful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>
                          <a:solidFill>
                            <a:schemeClr val="tx1"/>
                          </a:solidFill>
                          <a:effectLst/>
                        </a:rP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>
                          <a:solidFill>
                            <a:schemeClr val="tx1"/>
                          </a:solidFill>
                          <a:effectLst/>
                        </a:rPr>
                        <a:t>Cancel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9000066"/>
                  </a:ext>
                </a:extLst>
              </a:tr>
              <a:tr h="1963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0" dirty="0">
                          <a:solidFill>
                            <a:srgbClr val="141D2E"/>
                          </a:solidFill>
                          <a:effectLst/>
                        </a:rPr>
                        <a:t>Jan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>
                          <a:solidFill>
                            <a:srgbClr val="141D2E"/>
                          </a:solidFill>
                          <a:effectLst/>
                        </a:rPr>
                        <a:t>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>
                          <a:solidFill>
                            <a:srgbClr val="29A36A"/>
                          </a:solidFill>
                          <a:effectLst/>
                        </a:rPr>
                        <a:t>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>
                          <a:solidFill>
                            <a:srgbClr val="DC2828"/>
                          </a:solidFill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0" dirty="0">
                          <a:solidFill>
                            <a:srgbClr val="29A36A"/>
                          </a:solidFill>
                          <a:effectLst/>
                        </a:rPr>
                        <a:t>6.9%</a:t>
                      </a:r>
                      <a:endParaRPr lang="en-IN" sz="9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945174"/>
                  </a:ext>
                </a:extLst>
              </a:tr>
              <a:tr h="1963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0">
                          <a:solidFill>
                            <a:srgbClr val="141D2E"/>
                          </a:solidFill>
                          <a:effectLst/>
                        </a:rPr>
                        <a:t>Feb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>
                          <a:solidFill>
                            <a:srgbClr val="141D2E"/>
                          </a:solidFill>
                          <a:effectLst/>
                        </a:rPr>
                        <a:t>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>
                          <a:solidFill>
                            <a:srgbClr val="29A36A"/>
                          </a:solidFill>
                          <a:effectLst/>
                        </a:rPr>
                        <a:t>114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>
                          <a:solidFill>
                            <a:srgbClr val="DC2828"/>
                          </a:solidFill>
                          <a:effectLst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0" dirty="0">
                          <a:solidFill>
                            <a:srgbClr val="29A36A"/>
                          </a:solidFill>
                          <a:effectLst/>
                        </a:rPr>
                        <a:t>8.8%</a:t>
                      </a:r>
                      <a:endParaRPr lang="en-IN" sz="9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6420608"/>
                  </a:ext>
                </a:extLst>
              </a:tr>
              <a:tr h="1963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0">
                          <a:solidFill>
                            <a:srgbClr val="141D2E"/>
                          </a:solidFill>
                          <a:effectLst/>
                        </a:rPr>
                        <a:t>Mar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>
                          <a:solidFill>
                            <a:srgbClr val="141D2E"/>
                          </a:solidFill>
                          <a:effectLst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>
                          <a:solidFill>
                            <a:srgbClr val="29A36A"/>
                          </a:solidFill>
                          <a:effectLst/>
                        </a:rPr>
                        <a:t>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>
                          <a:solidFill>
                            <a:srgbClr val="DC2828"/>
                          </a:solidFill>
                          <a:effectLst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0" dirty="0">
                          <a:solidFill>
                            <a:srgbClr val="DC2828"/>
                          </a:solidFill>
                          <a:effectLst/>
                        </a:rPr>
                        <a:t>33%</a:t>
                      </a:r>
                      <a:endParaRPr lang="en-IN" sz="9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4348730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9C527C24-053D-4D55-C7D6-1F2DFFB95B34}"/>
              </a:ext>
            </a:extLst>
          </p:cNvPr>
          <p:cNvSpPr txBox="1"/>
          <p:nvPr/>
        </p:nvSpPr>
        <p:spPr>
          <a:xfrm>
            <a:off x="-2537" y="4151609"/>
            <a:ext cx="13029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400" b="1" i="0" dirty="0">
                <a:solidFill>
                  <a:srgbClr val="141D2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Monthly Performance Breakdown</a:t>
            </a:r>
          </a:p>
        </p:txBody>
      </p:sp>
    </p:spTree>
    <p:extLst>
      <p:ext uri="{BB962C8B-B14F-4D97-AF65-F5344CB8AC3E}">
        <p14:creationId xmlns:p14="http://schemas.microsoft.com/office/powerpoint/2010/main" val="518109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Hypothesis Validation</a:t>
            </a:r>
            <a:endParaRPr lang="en-US" sz="32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3D65E1C-A35B-B4AE-5DA2-36B831FB00C2}"/>
              </a:ext>
            </a:extLst>
          </p:cNvPr>
          <p:cNvSpPr/>
          <p:nvPr/>
        </p:nvSpPr>
        <p:spPr>
          <a:xfrm rot="16200000">
            <a:off x="3820912" y="-2854968"/>
            <a:ext cx="1502176" cy="9021807"/>
          </a:xfrm>
          <a:custGeom>
            <a:avLst/>
            <a:gdLst>
              <a:gd name="csX0" fmla="*/ 0 w 2636947"/>
              <a:gd name="csY0" fmla="*/ 131847 h 3164336"/>
              <a:gd name="csX1" fmla="*/ 131847 w 2636947"/>
              <a:gd name="csY1" fmla="*/ 0 h 3164336"/>
              <a:gd name="csX2" fmla="*/ 2505100 w 2636947"/>
              <a:gd name="csY2" fmla="*/ 0 h 3164336"/>
              <a:gd name="csX3" fmla="*/ 2636947 w 2636947"/>
              <a:gd name="csY3" fmla="*/ 131847 h 3164336"/>
              <a:gd name="csX4" fmla="*/ 2636947 w 2636947"/>
              <a:gd name="csY4" fmla="*/ 3032489 h 3164336"/>
              <a:gd name="csX5" fmla="*/ 2505100 w 2636947"/>
              <a:gd name="csY5" fmla="*/ 3164336 h 3164336"/>
              <a:gd name="csX6" fmla="*/ 131847 w 2636947"/>
              <a:gd name="csY6" fmla="*/ 3164336 h 3164336"/>
              <a:gd name="csX7" fmla="*/ 0 w 2636947"/>
              <a:gd name="csY7" fmla="*/ 3032489 h 3164336"/>
              <a:gd name="csX8" fmla="*/ 0 w 2636947"/>
              <a:gd name="csY8" fmla="*/ 131847 h 31643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36947" h="3164336">
                <a:moveTo>
                  <a:pt x="2527074" y="1"/>
                </a:moveTo>
                <a:cubicBezTo>
                  <a:pt x="2587755" y="1"/>
                  <a:pt x="2636947" y="70837"/>
                  <a:pt x="2636947" y="158217"/>
                </a:cubicBezTo>
                <a:lnTo>
                  <a:pt x="2636947" y="3006119"/>
                </a:lnTo>
                <a:cubicBezTo>
                  <a:pt x="2636947" y="3093499"/>
                  <a:pt x="2587755" y="3164335"/>
                  <a:pt x="2527074" y="3164335"/>
                </a:cubicBezTo>
                <a:lnTo>
                  <a:pt x="109873" y="3164335"/>
                </a:lnTo>
                <a:cubicBezTo>
                  <a:pt x="49192" y="3164335"/>
                  <a:pt x="0" y="3093499"/>
                  <a:pt x="0" y="3006119"/>
                </a:cubicBezTo>
                <a:lnTo>
                  <a:pt x="0" y="158217"/>
                </a:lnTo>
                <a:cubicBezTo>
                  <a:pt x="0" y="70837"/>
                  <a:pt x="49192" y="1"/>
                  <a:pt x="109873" y="1"/>
                </a:cubicBezTo>
                <a:lnTo>
                  <a:pt x="2527074" y="1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9580" tIns="54866" rIns="71120" bIns="2109556" numCol="1" spcCol="1270" anchor="t" anchorCtr="0">
            <a:noAutofit/>
          </a:bodyPr>
          <a:lstStyle/>
          <a:p>
            <a:pPr marL="0" lvl="0" indent="0" algn="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12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8E7B17-21AA-F84D-6BB9-D48F38B1F724}"/>
              </a:ext>
            </a:extLst>
          </p:cNvPr>
          <p:cNvSpPr txBox="1"/>
          <p:nvPr/>
        </p:nvSpPr>
        <p:spPr>
          <a:xfrm>
            <a:off x="457200" y="614592"/>
            <a:ext cx="77043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626D8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Three hypotheses tested against order data to identify actionable root causes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D7E548-23B2-61A3-1CF8-0515DE223D64}"/>
              </a:ext>
            </a:extLst>
          </p:cNvPr>
          <p:cNvSpPr txBox="1"/>
          <p:nvPr/>
        </p:nvSpPr>
        <p:spPr>
          <a:xfrm>
            <a:off x="1739258" y="899715"/>
            <a:ext cx="574493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1200" b="1" i="0" kern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H1: Inventory Management Failure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(Validated)</a:t>
            </a:r>
            <a:endParaRPr lang="en-IN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08019-C8B9-7E9D-BB73-03EF31A85454}"/>
              </a:ext>
            </a:extLst>
          </p:cNvPr>
          <p:cNvSpPr txBox="1"/>
          <p:nvPr/>
        </p:nvSpPr>
        <p:spPr>
          <a:xfrm>
            <a:off x="122193" y="1118431"/>
            <a:ext cx="90218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Restaurants are unable to update menu availability in real-time, leading to orders for unavailable items.</a:t>
            </a:r>
            <a:endParaRPr lang="en-IN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416B40-002B-2004-B2FD-61E339A71C02}"/>
              </a:ext>
            </a:extLst>
          </p:cNvPr>
          <p:cNvSpPr txBox="1"/>
          <p:nvPr/>
        </p:nvSpPr>
        <p:spPr>
          <a:xfrm>
            <a:off x="5680048" y="1352135"/>
            <a:ext cx="33657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200" b="1" i="0" dirty="0">
                <a:solidFill>
                  <a:srgbClr val="DC28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75%</a:t>
            </a:r>
          </a:p>
          <a:p>
            <a:pPr algn="ctr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Peak Hour Impact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DA7D16-DE02-20E4-E429-23DA0550EFE5}"/>
              </a:ext>
            </a:extLst>
          </p:cNvPr>
          <p:cNvSpPr txBox="1"/>
          <p:nvPr/>
        </p:nvSpPr>
        <p:spPr>
          <a:xfrm>
            <a:off x="3226526" y="1331152"/>
            <a:ext cx="31600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200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 restaurants</a:t>
            </a:r>
          </a:p>
          <a:p>
            <a:pPr algn="ctr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Repeat Offenders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250486-0D83-8C17-3EDA-E038E66D5F47}"/>
              </a:ext>
            </a:extLst>
          </p:cNvPr>
          <p:cNvSpPr txBox="1"/>
          <p:nvPr/>
        </p:nvSpPr>
        <p:spPr>
          <a:xfrm>
            <a:off x="308048" y="1352136"/>
            <a:ext cx="33822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200" b="1" i="0" dirty="0">
                <a:solidFill>
                  <a:srgbClr val="DC28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41.5%</a:t>
            </a:r>
          </a:p>
          <a:p>
            <a:pPr algn="ctr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Item Unavailable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4B5709-1467-AA2B-DD26-67445E0D77AF}"/>
              </a:ext>
            </a:extLst>
          </p:cNvPr>
          <p:cNvSpPr txBox="1"/>
          <p:nvPr/>
        </p:nvSpPr>
        <p:spPr>
          <a:xfrm>
            <a:off x="61096" y="1732863"/>
            <a:ext cx="90829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cap="all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Supporting Evidence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"Item Unavailable" is the #1 cancellation reason (41.5%)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 cancellations occur during lunch (12-1 PM) and dinner (7-9 PM) rush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AA7B14D-F47F-5E30-C01C-A12B1CBF2620}"/>
              </a:ext>
            </a:extLst>
          </p:cNvPr>
          <p:cNvSpPr/>
          <p:nvPr/>
        </p:nvSpPr>
        <p:spPr>
          <a:xfrm rot="16200000">
            <a:off x="3811213" y="-1289764"/>
            <a:ext cx="1521574" cy="9021807"/>
          </a:xfrm>
          <a:custGeom>
            <a:avLst/>
            <a:gdLst>
              <a:gd name="csX0" fmla="*/ 0 w 2636947"/>
              <a:gd name="csY0" fmla="*/ 131847 h 3164336"/>
              <a:gd name="csX1" fmla="*/ 131847 w 2636947"/>
              <a:gd name="csY1" fmla="*/ 0 h 3164336"/>
              <a:gd name="csX2" fmla="*/ 2505100 w 2636947"/>
              <a:gd name="csY2" fmla="*/ 0 h 3164336"/>
              <a:gd name="csX3" fmla="*/ 2636947 w 2636947"/>
              <a:gd name="csY3" fmla="*/ 131847 h 3164336"/>
              <a:gd name="csX4" fmla="*/ 2636947 w 2636947"/>
              <a:gd name="csY4" fmla="*/ 3032489 h 3164336"/>
              <a:gd name="csX5" fmla="*/ 2505100 w 2636947"/>
              <a:gd name="csY5" fmla="*/ 3164336 h 3164336"/>
              <a:gd name="csX6" fmla="*/ 131847 w 2636947"/>
              <a:gd name="csY6" fmla="*/ 3164336 h 3164336"/>
              <a:gd name="csX7" fmla="*/ 0 w 2636947"/>
              <a:gd name="csY7" fmla="*/ 3032489 h 3164336"/>
              <a:gd name="csX8" fmla="*/ 0 w 2636947"/>
              <a:gd name="csY8" fmla="*/ 131847 h 31643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36947" h="3164336">
                <a:moveTo>
                  <a:pt x="2527074" y="1"/>
                </a:moveTo>
                <a:cubicBezTo>
                  <a:pt x="2587755" y="1"/>
                  <a:pt x="2636947" y="70837"/>
                  <a:pt x="2636947" y="158217"/>
                </a:cubicBezTo>
                <a:lnTo>
                  <a:pt x="2636947" y="3006119"/>
                </a:lnTo>
                <a:cubicBezTo>
                  <a:pt x="2636947" y="3093499"/>
                  <a:pt x="2587755" y="3164335"/>
                  <a:pt x="2527074" y="3164335"/>
                </a:cubicBezTo>
                <a:lnTo>
                  <a:pt x="109873" y="3164335"/>
                </a:lnTo>
                <a:cubicBezTo>
                  <a:pt x="49192" y="3164335"/>
                  <a:pt x="0" y="3093499"/>
                  <a:pt x="0" y="3006119"/>
                </a:cubicBezTo>
                <a:lnTo>
                  <a:pt x="0" y="158217"/>
                </a:lnTo>
                <a:cubicBezTo>
                  <a:pt x="0" y="70837"/>
                  <a:pt x="49192" y="1"/>
                  <a:pt x="109873" y="1"/>
                </a:cubicBezTo>
                <a:lnTo>
                  <a:pt x="2527074" y="1"/>
                </a:lnTo>
                <a:close/>
              </a:path>
            </a:pathLst>
          </a:custGeom>
          <a:solidFill>
            <a:srgbClr val="A9D18E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9580" tIns="54866" rIns="71120" bIns="2109556" numCol="1" spcCol="1270" anchor="t" anchorCtr="0">
            <a:noAutofit/>
          </a:bodyPr>
          <a:lstStyle/>
          <a:p>
            <a:pPr marL="0" lvl="0" indent="0" algn="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F4F39A-A92F-203E-B702-C10F6AD4994E}"/>
              </a:ext>
            </a:extLst>
          </p:cNvPr>
          <p:cNvSpPr txBox="1"/>
          <p:nvPr/>
        </p:nvSpPr>
        <p:spPr>
          <a:xfrm>
            <a:off x="5320221" y="1885103"/>
            <a:ext cx="3838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Same restaurants repeatedly cancel for inventory reasons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9E9A38-F9B6-AEDD-9D21-CDC4CFD497E6}"/>
              </a:ext>
            </a:extLst>
          </p:cNvPr>
          <p:cNvSpPr txBox="1"/>
          <p:nvPr/>
        </p:nvSpPr>
        <p:spPr>
          <a:xfrm>
            <a:off x="1303069" y="2435680"/>
            <a:ext cx="66173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H2: Capacity Overload During Peak Hours (Validated)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D91AF8-5E71-D72A-D4CB-B836727C71DB}"/>
              </a:ext>
            </a:extLst>
          </p:cNvPr>
          <p:cNvSpPr txBox="1"/>
          <p:nvPr/>
        </p:nvSpPr>
        <p:spPr>
          <a:xfrm>
            <a:off x="122192" y="2694643"/>
            <a:ext cx="90218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Restaurants accept more orders than they can handle, leading to cancellations due to high volume</a:t>
            </a:r>
            <a:endParaRPr lang="en-IN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D7D1EB-E4F9-D72E-F092-4F7AB59009AA}"/>
              </a:ext>
            </a:extLst>
          </p:cNvPr>
          <p:cNvSpPr txBox="1"/>
          <p:nvPr/>
        </p:nvSpPr>
        <p:spPr>
          <a:xfrm>
            <a:off x="6014652" y="2901958"/>
            <a:ext cx="31124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200" b="1" i="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16 orders</a:t>
            </a:r>
          </a:p>
          <a:p>
            <a:pPr algn="ctr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Affected Users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8B8FD7-0A2F-3B93-AF78-72E6267B2860}"/>
              </a:ext>
            </a:extLst>
          </p:cNvPr>
          <p:cNvSpPr txBox="1"/>
          <p:nvPr/>
        </p:nvSpPr>
        <p:spPr>
          <a:xfrm>
            <a:off x="2472651" y="2901957"/>
            <a:ext cx="4578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41.5%</a:t>
            </a:r>
          </a:p>
          <a:p>
            <a:pPr algn="ctr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Peak Hour 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8714C0-262F-8A5F-7339-49E484E3B0CA}"/>
              </a:ext>
            </a:extLst>
          </p:cNvPr>
          <p:cNvSpPr txBox="1"/>
          <p:nvPr/>
        </p:nvSpPr>
        <p:spPr>
          <a:xfrm>
            <a:off x="307880" y="2901958"/>
            <a:ext cx="32014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200" b="1" i="0" dirty="0">
                <a:solidFill>
                  <a:srgbClr val="DC28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30.2%</a:t>
            </a:r>
          </a:p>
          <a:p>
            <a:pPr algn="ctr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Volume Cancellations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3CAC15-C947-C48E-BFAB-532028D3D4E1}"/>
              </a:ext>
            </a:extLst>
          </p:cNvPr>
          <p:cNvSpPr txBox="1"/>
          <p:nvPr/>
        </p:nvSpPr>
        <p:spPr>
          <a:xfrm>
            <a:off x="122192" y="3335596"/>
            <a:ext cx="4578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cap="all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Supporting Evidence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"High Order Volume" accounts for 30.2% of cancellations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Cancellations spike during 7-9 PM dinner rush (41.5%)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7A8DE9-7737-90B3-8162-BCFFEB8B2AA0}"/>
              </a:ext>
            </a:extLst>
          </p:cNvPr>
          <p:cNvSpPr txBox="1"/>
          <p:nvPr/>
        </p:nvSpPr>
        <p:spPr>
          <a:xfrm>
            <a:off x="4345904" y="3444600"/>
            <a:ext cx="4578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order throttling mechanism exists for overwhelmed restaurants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4158AD3-8B4D-438F-D7A1-A29096752833}"/>
              </a:ext>
            </a:extLst>
          </p:cNvPr>
          <p:cNvSpPr/>
          <p:nvPr/>
        </p:nvSpPr>
        <p:spPr>
          <a:xfrm rot="16200000">
            <a:off x="4012784" y="73381"/>
            <a:ext cx="1118430" cy="9021807"/>
          </a:xfrm>
          <a:custGeom>
            <a:avLst/>
            <a:gdLst>
              <a:gd name="csX0" fmla="*/ 0 w 2636947"/>
              <a:gd name="csY0" fmla="*/ 131847 h 3164336"/>
              <a:gd name="csX1" fmla="*/ 131847 w 2636947"/>
              <a:gd name="csY1" fmla="*/ 0 h 3164336"/>
              <a:gd name="csX2" fmla="*/ 2505100 w 2636947"/>
              <a:gd name="csY2" fmla="*/ 0 h 3164336"/>
              <a:gd name="csX3" fmla="*/ 2636947 w 2636947"/>
              <a:gd name="csY3" fmla="*/ 131847 h 3164336"/>
              <a:gd name="csX4" fmla="*/ 2636947 w 2636947"/>
              <a:gd name="csY4" fmla="*/ 3032489 h 3164336"/>
              <a:gd name="csX5" fmla="*/ 2505100 w 2636947"/>
              <a:gd name="csY5" fmla="*/ 3164336 h 3164336"/>
              <a:gd name="csX6" fmla="*/ 131847 w 2636947"/>
              <a:gd name="csY6" fmla="*/ 3164336 h 3164336"/>
              <a:gd name="csX7" fmla="*/ 0 w 2636947"/>
              <a:gd name="csY7" fmla="*/ 3032489 h 3164336"/>
              <a:gd name="csX8" fmla="*/ 0 w 2636947"/>
              <a:gd name="csY8" fmla="*/ 131847 h 31643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36947" h="3164336">
                <a:moveTo>
                  <a:pt x="2527074" y="1"/>
                </a:moveTo>
                <a:cubicBezTo>
                  <a:pt x="2587755" y="1"/>
                  <a:pt x="2636947" y="70837"/>
                  <a:pt x="2636947" y="158217"/>
                </a:cubicBezTo>
                <a:lnTo>
                  <a:pt x="2636947" y="3006119"/>
                </a:lnTo>
                <a:cubicBezTo>
                  <a:pt x="2636947" y="3093499"/>
                  <a:pt x="2587755" y="3164335"/>
                  <a:pt x="2527074" y="3164335"/>
                </a:cubicBezTo>
                <a:lnTo>
                  <a:pt x="109873" y="3164335"/>
                </a:lnTo>
                <a:cubicBezTo>
                  <a:pt x="49192" y="3164335"/>
                  <a:pt x="0" y="3093499"/>
                  <a:pt x="0" y="3006119"/>
                </a:cubicBezTo>
                <a:lnTo>
                  <a:pt x="0" y="158217"/>
                </a:lnTo>
                <a:cubicBezTo>
                  <a:pt x="0" y="70837"/>
                  <a:pt x="49192" y="1"/>
                  <a:pt x="109873" y="1"/>
                </a:cubicBezTo>
                <a:lnTo>
                  <a:pt x="2527074" y="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9580" tIns="54866" rIns="71120" bIns="2109556" numCol="1" spcCol="1270" anchor="t" anchorCtr="0">
            <a:noAutofit/>
          </a:bodyPr>
          <a:lstStyle/>
          <a:p>
            <a:pPr marL="0" lvl="0" indent="0" algn="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6F4648-9CDB-64E6-AE5A-8A96B26AB9DC}"/>
              </a:ext>
            </a:extLst>
          </p:cNvPr>
          <p:cNvSpPr txBox="1"/>
          <p:nvPr/>
        </p:nvSpPr>
        <p:spPr>
          <a:xfrm>
            <a:off x="1431099" y="3971741"/>
            <a:ext cx="63612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H3: Customer Churn from Bad Experience (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Partially Validated</a:t>
            </a:r>
            <a:r>
              <a:rPr lang="en-US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5BEBC1-9910-8ECD-1291-96F9ACE9221E}"/>
              </a:ext>
            </a:extLst>
          </p:cNvPr>
          <p:cNvSpPr txBox="1"/>
          <p:nvPr/>
        </p:nvSpPr>
        <p:spPr>
          <a:xfrm>
            <a:off x="61092" y="4279662"/>
            <a:ext cx="90218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Users who experience cancellations are not returning, leading to declining order frequency.</a:t>
            </a:r>
            <a:endParaRPr lang="en-IN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EE877A-95CC-50D2-B803-A04BBAD87D4B}"/>
              </a:ext>
            </a:extLst>
          </p:cNvPr>
          <p:cNvSpPr txBox="1"/>
          <p:nvPr/>
        </p:nvSpPr>
        <p:spPr>
          <a:xfrm>
            <a:off x="5680048" y="4578232"/>
            <a:ext cx="3402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200" b="1" i="0" dirty="0">
                <a:solidFill>
                  <a:srgbClr val="DC28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28 users</a:t>
            </a:r>
          </a:p>
          <a:p>
            <a:pPr algn="ctr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Churn Risk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D0A18D-B019-E189-D991-7BCCBE8DB31F}"/>
              </a:ext>
            </a:extLst>
          </p:cNvPr>
          <p:cNvSpPr txBox="1"/>
          <p:nvPr/>
        </p:nvSpPr>
        <p:spPr>
          <a:xfrm>
            <a:off x="2472650" y="4593735"/>
            <a:ext cx="4578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200" b="1" i="0" dirty="0">
                <a:solidFill>
                  <a:srgbClr val="DC28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Multi-Cancel Users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1F3F95-6CF4-AE5C-8D86-CB78012C9067}"/>
              </a:ext>
            </a:extLst>
          </p:cNvPr>
          <p:cNvSpPr txBox="1"/>
          <p:nvPr/>
        </p:nvSpPr>
        <p:spPr>
          <a:xfrm>
            <a:off x="122192" y="4569095"/>
            <a:ext cx="36900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200" b="1" i="0" dirty="0">
                <a:solidFill>
                  <a:srgbClr val="141D2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</a:p>
          <a:p>
            <a:pPr algn="ctr">
              <a:buNone/>
            </a:pPr>
            <a:r>
              <a:rPr lang="en-IN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Affected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171" y="12735"/>
            <a:ext cx="8229600" cy="574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Targeted Solutions</a:t>
            </a:r>
            <a:endParaRPr lang="en-US" sz="32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D985451-E6F8-249A-1C09-8ABD49815948}"/>
              </a:ext>
            </a:extLst>
          </p:cNvPr>
          <p:cNvGrpSpPr/>
          <p:nvPr/>
        </p:nvGrpSpPr>
        <p:grpSpPr>
          <a:xfrm>
            <a:off x="183170" y="1642055"/>
            <a:ext cx="8805187" cy="3442267"/>
            <a:chOff x="220494" y="915723"/>
            <a:chExt cx="8805187" cy="344226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A268FF-970A-0FB3-3F40-201760C93488}"/>
                </a:ext>
              </a:extLst>
            </p:cNvPr>
            <p:cNvGrpSpPr/>
            <p:nvPr/>
          </p:nvGrpSpPr>
          <p:grpSpPr>
            <a:xfrm>
              <a:off x="220494" y="915723"/>
              <a:ext cx="8767863" cy="3442267"/>
              <a:chOff x="839776" y="1071880"/>
              <a:chExt cx="7507515" cy="407161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B001225-CFD9-0AB0-8AA9-D4056578319F}"/>
                  </a:ext>
                </a:extLst>
              </p:cNvPr>
              <p:cNvSpPr/>
              <p:nvPr/>
            </p:nvSpPr>
            <p:spPr>
              <a:xfrm>
                <a:off x="839776" y="1071880"/>
                <a:ext cx="2453436" cy="4071619"/>
              </a:xfrm>
              <a:custGeom>
                <a:avLst/>
                <a:gdLst>
                  <a:gd name="csX0" fmla="*/ 0 w 2453436"/>
                  <a:gd name="csY0" fmla="*/ 245344 h 4071619"/>
                  <a:gd name="csX1" fmla="*/ 245344 w 2453436"/>
                  <a:gd name="csY1" fmla="*/ 0 h 4071619"/>
                  <a:gd name="csX2" fmla="*/ 2208092 w 2453436"/>
                  <a:gd name="csY2" fmla="*/ 0 h 4071619"/>
                  <a:gd name="csX3" fmla="*/ 2453436 w 2453436"/>
                  <a:gd name="csY3" fmla="*/ 245344 h 4071619"/>
                  <a:gd name="csX4" fmla="*/ 2453436 w 2453436"/>
                  <a:gd name="csY4" fmla="*/ 3826275 h 4071619"/>
                  <a:gd name="csX5" fmla="*/ 2208092 w 2453436"/>
                  <a:gd name="csY5" fmla="*/ 4071619 h 4071619"/>
                  <a:gd name="csX6" fmla="*/ 245344 w 2453436"/>
                  <a:gd name="csY6" fmla="*/ 4071619 h 4071619"/>
                  <a:gd name="csX7" fmla="*/ 0 w 2453436"/>
                  <a:gd name="csY7" fmla="*/ 3826275 h 4071619"/>
                  <a:gd name="csX8" fmla="*/ 0 w 2453436"/>
                  <a:gd name="csY8" fmla="*/ 245344 h 40716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453436" h="4071619">
                    <a:moveTo>
                      <a:pt x="0" y="245344"/>
                    </a:moveTo>
                    <a:cubicBezTo>
                      <a:pt x="0" y="109844"/>
                      <a:pt x="109844" y="0"/>
                      <a:pt x="245344" y="0"/>
                    </a:cubicBezTo>
                    <a:lnTo>
                      <a:pt x="2208092" y="0"/>
                    </a:lnTo>
                    <a:cubicBezTo>
                      <a:pt x="2343592" y="0"/>
                      <a:pt x="2453436" y="109844"/>
                      <a:pt x="2453436" y="245344"/>
                    </a:cubicBezTo>
                    <a:lnTo>
                      <a:pt x="2453436" y="3826275"/>
                    </a:lnTo>
                    <a:cubicBezTo>
                      <a:pt x="2453436" y="3961775"/>
                      <a:pt x="2343592" y="4071619"/>
                      <a:pt x="2208092" y="4071619"/>
                    </a:cubicBezTo>
                    <a:lnTo>
                      <a:pt x="245344" y="4071619"/>
                    </a:lnTo>
                    <a:cubicBezTo>
                      <a:pt x="109844" y="4071619"/>
                      <a:pt x="0" y="3961775"/>
                      <a:pt x="0" y="3826275"/>
                    </a:cubicBezTo>
                    <a:lnTo>
                      <a:pt x="0" y="24534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2672" tIns="1671319" rIns="42672" bIns="856997" numCol="1" spcCol="1270" anchor="ctr" anchorCtr="0">
                <a:noAutofit/>
              </a:bodyPr>
              <a:lstStyle/>
              <a:p>
                <a:pPr marL="0" lvl="0" indent="0" algn="ctr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1200" b="1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Real-Time Menu Sync System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Enable restaurants to instantly update item availability with one-tap controls and smart alerts.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One-tap item availability toggle on partner app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Auto-disable items after 5 cancellations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Smart stock alerts when items run low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Batch update for busy periods</a:t>
                </a: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b="0" i="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b="0" i="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b="0" i="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b="0" i="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8F761653-68F5-157E-F492-5621DA5E65B9}"/>
                  </a:ext>
                </a:extLst>
              </p:cNvPr>
              <p:cNvSpPr/>
              <p:nvPr/>
            </p:nvSpPr>
            <p:spPr>
              <a:xfrm>
                <a:off x="3366816" y="1071880"/>
                <a:ext cx="2453436" cy="4071619"/>
              </a:xfrm>
              <a:custGeom>
                <a:avLst/>
                <a:gdLst>
                  <a:gd name="csX0" fmla="*/ 0 w 2453436"/>
                  <a:gd name="csY0" fmla="*/ 245344 h 4071619"/>
                  <a:gd name="csX1" fmla="*/ 245344 w 2453436"/>
                  <a:gd name="csY1" fmla="*/ 0 h 4071619"/>
                  <a:gd name="csX2" fmla="*/ 2208092 w 2453436"/>
                  <a:gd name="csY2" fmla="*/ 0 h 4071619"/>
                  <a:gd name="csX3" fmla="*/ 2453436 w 2453436"/>
                  <a:gd name="csY3" fmla="*/ 245344 h 4071619"/>
                  <a:gd name="csX4" fmla="*/ 2453436 w 2453436"/>
                  <a:gd name="csY4" fmla="*/ 3826275 h 4071619"/>
                  <a:gd name="csX5" fmla="*/ 2208092 w 2453436"/>
                  <a:gd name="csY5" fmla="*/ 4071619 h 4071619"/>
                  <a:gd name="csX6" fmla="*/ 245344 w 2453436"/>
                  <a:gd name="csY6" fmla="*/ 4071619 h 4071619"/>
                  <a:gd name="csX7" fmla="*/ 0 w 2453436"/>
                  <a:gd name="csY7" fmla="*/ 3826275 h 4071619"/>
                  <a:gd name="csX8" fmla="*/ 0 w 2453436"/>
                  <a:gd name="csY8" fmla="*/ 245344 h 40716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453436" h="4071619">
                    <a:moveTo>
                      <a:pt x="0" y="245344"/>
                    </a:moveTo>
                    <a:cubicBezTo>
                      <a:pt x="0" y="109844"/>
                      <a:pt x="109844" y="0"/>
                      <a:pt x="245344" y="0"/>
                    </a:cubicBezTo>
                    <a:lnTo>
                      <a:pt x="2208092" y="0"/>
                    </a:lnTo>
                    <a:cubicBezTo>
                      <a:pt x="2343592" y="0"/>
                      <a:pt x="2453436" y="109844"/>
                      <a:pt x="2453436" y="245344"/>
                    </a:cubicBezTo>
                    <a:lnTo>
                      <a:pt x="2453436" y="3826275"/>
                    </a:lnTo>
                    <a:cubicBezTo>
                      <a:pt x="2453436" y="3961775"/>
                      <a:pt x="2343592" y="4071619"/>
                      <a:pt x="2208092" y="4071619"/>
                    </a:cubicBezTo>
                    <a:lnTo>
                      <a:pt x="245344" y="4071619"/>
                    </a:lnTo>
                    <a:cubicBezTo>
                      <a:pt x="109844" y="4071619"/>
                      <a:pt x="0" y="3961775"/>
                      <a:pt x="0" y="3826275"/>
                    </a:cubicBezTo>
                    <a:lnTo>
                      <a:pt x="0" y="24534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2672" tIns="1671319" rIns="42672" bIns="856997" numCol="1" spcCol="1270" anchor="ctr" anchorCtr="0">
                <a:noAutofit/>
              </a:bodyPr>
              <a:lstStyle/>
              <a:p>
                <a:pPr marL="0" lvl="0" indent="0" algn="ctr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1200" b="1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Dynamic Order Throttling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Automatically limit incoming orders when restaurants approach capacity during peak hours.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 max orders per 15-min window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IN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Auto-pause during overwhelm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Show 'High Demand' badge to customers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IN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Estimated wait time display</a:t>
                </a: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b="0" i="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b="0" i="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b="0" i="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b="0" i="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5906D6BF-B26E-27EB-9657-BB14FBEAAD81}"/>
                  </a:ext>
                </a:extLst>
              </p:cNvPr>
              <p:cNvSpPr/>
              <p:nvPr/>
            </p:nvSpPr>
            <p:spPr>
              <a:xfrm>
                <a:off x="5893855" y="1071880"/>
                <a:ext cx="2453436" cy="4071619"/>
              </a:xfrm>
              <a:custGeom>
                <a:avLst/>
                <a:gdLst>
                  <a:gd name="csX0" fmla="*/ 0 w 2453436"/>
                  <a:gd name="csY0" fmla="*/ 245344 h 4071619"/>
                  <a:gd name="csX1" fmla="*/ 245344 w 2453436"/>
                  <a:gd name="csY1" fmla="*/ 0 h 4071619"/>
                  <a:gd name="csX2" fmla="*/ 2208092 w 2453436"/>
                  <a:gd name="csY2" fmla="*/ 0 h 4071619"/>
                  <a:gd name="csX3" fmla="*/ 2453436 w 2453436"/>
                  <a:gd name="csY3" fmla="*/ 245344 h 4071619"/>
                  <a:gd name="csX4" fmla="*/ 2453436 w 2453436"/>
                  <a:gd name="csY4" fmla="*/ 3826275 h 4071619"/>
                  <a:gd name="csX5" fmla="*/ 2208092 w 2453436"/>
                  <a:gd name="csY5" fmla="*/ 4071619 h 4071619"/>
                  <a:gd name="csX6" fmla="*/ 245344 w 2453436"/>
                  <a:gd name="csY6" fmla="*/ 4071619 h 4071619"/>
                  <a:gd name="csX7" fmla="*/ 0 w 2453436"/>
                  <a:gd name="csY7" fmla="*/ 3826275 h 4071619"/>
                  <a:gd name="csX8" fmla="*/ 0 w 2453436"/>
                  <a:gd name="csY8" fmla="*/ 245344 h 40716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453436" h="4071619">
                    <a:moveTo>
                      <a:pt x="0" y="245344"/>
                    </a:moveTo>
                    <a:cubicBezTo>
                      <a:pt x="0" y="109844"/>
                      <a:pt x="109844" y="0"/>
                      <a:pt x="245344" y="0"/>
                    </a:cubicBezTo>
                    <a:lnTo>
                      <a:pt x="2208092" y="0"/>
                    </a:lnTo>
                    <a:cubicBezTo>
                      <a:pt x="2343592" y="0"/>
                      <a:pt x="2453436" y="109844"/>
                      <a:pt x="2453436" y="245344"/>
                    </a:cubicBezTo>
                    <a:lnTo>
                      <a:pt x="2453436" y="3826275"/>
                    </a:lnTo>
                    <a:cubicBezTo>
                      <a:pt x="2453436" y="3961775"/>
                      <a:pt x="2343592" y="4071619"/>
                      <a:pt x="2208092" y="4071619"/>
                    </a:cubicBezTo>
                    <a:lnTo>
                      <a:pt x="245344" y="4071619"/>
                    </a:lnTo>
                    <a:cubicBezTo>
                      <a:pt x="109844" y="4071619"/>
                      <a:pt x="0" y="3961775"/>
                      <a:pt x="0" y="3826275"/>
                    </a:cubicBezTo>
                    <a:lnTo>
                      <a:pt x="0" y="24534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2672" tIns="1671319" rIns="42672" bIns="856997" numCol="1" spcCol="1270" anchor="ctr" anchorCtr="0">
                <a:noAutofit/>
              </a:bodyPr>
              <a:lstStyle/>
              <a:p>
                <a:pPr marL="0" lvl="0" indent="0" algn="ctr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1200" b="1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Proactive Customer Recovery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Automatically compensate and re-engage customers who experience cancellations.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Instant apology notification with discount code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IN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Auto-suggest similar restaurants nearby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IN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Priority queue for re-orders</a:t>
                </a:r>
              </a:p>
              <a:p>
                <a:pPr marL="171450" lvl="0" indent="-17145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Char char="•"/>
                </a:pPr>
                <a:r>
                  <a:rPr lang="en-IN" sz="1200" b="0" i="0" kern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Personalized win-back campaign</a:t>
                </a: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b="0" i="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b="0" i="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b="0" i="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b="0" i="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defTabSz="266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200" b="0" i="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515036B-6F09-4DC0-F445-D0BDC01277E3}"/>
                </a:ext>
              </a:extLst>
            </p:cNvPr>
            <p:cNvGrpSpPr/>
            <p:nvPr/>
          </p:nvGrpSpPr>
          <p:grpSpPr>
            <a:xfrm>
              <a:off x="306456" y="3070548"/>
              <a:ext cx="2865313" cy="1037832"/>
              <a:chOff x="204281" y="3066834"/>
              <a:chExt cx="2865313" cy="1037832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42E946-E01A-A36C-5C5E-C013206E25B5}"/>
                  </a:ext>
                </a:extLst>
              </p:cNvPr>
              <p:cNvSpPr txBox="1"/>
              <p:nvPr/>
            </p:nvSpPr>
            <p:spPr>
              <a:xfrm>
                <a:off x="204281" y="3066837"/>
                <a:ext cx="10273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IN" sz="1400" b="0" i="0" dirty="0">
                    <a:effectLst/>
                    <a:latin typeface="ui-sans-serif"/>
                  </a:rPr>
                  <a:t>Impact</a:t>
                </a:r>
              </a:p>
              <a:p>
                <a:pPr algn="ctr">
                  <a:buNone/>
                </a:pPr>
                <a:r>
                  <a:rPr lang="en-IN" sz="1400" b="1" i="0" dirty="0">
                    <a:solidFill>
                      <a:schemeClr val="accent6"/>
                    </a:solidFill>
                    <a:effectLst/>
                    <a:latin typeface="ui-sans-serif"/>
                  </a:rPr>
                  <a:t>Medium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EC0E90F-F6DA-6E3E-FEE9-E59DF2718EC4}"/>
                  </a:ext>
                </a:extLst>
              </p:cNvPr>
              <p:cNvSpPr txBox="1"/>
              <p:nvPr/>
            </p:nvSpPr>
            <p:spPr>
              <a:xfrm>
                <a:off x="586058" y="3066834"/>
                <a:ext cx="17996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IN" sz="1400" b="0" i="0" dirty="0">
                    <a:effectLst/>
                    <a:latin typeface="ui-sans-serif"/>
                  </a:rPr>
                  <a:t>Effort</a:t>
                </a:r>
              </a:p>
              <a:p>
                <a:pPr algn="ctr">
                  <a:buNone/>
                </a:pPr>
                <a:r>
                  <a:rPr lang="en-IN" sz="1400" b="1" i="0" dirty="0">
                    <a:solidFill>
                      <a:schemeClr val="accent6"/>
                    </a:solidFill>
                    <a:effectLst/>
                    <a:latin typeface="ui-sans-serif"/>
                  </a:rPr>
                  <a:t>Medium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051E49-1387-DEE6-156A-7F0696DC986E}"/>
                  </a:ext>
                </a:extLst>
              </p:cNvPr>
              <p:cNvSpPr txBox="1"/>
              <p:nvPr/>
            </p:nvSpPr>
            <p:spPr>
              <a:xfrm>
                <a:off x="1691509" y="3066837"/>
                <a:ext cx="13780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IN" sz="1400" b="0" i="0" dirty="0">
                    <a:effectLst/>
                    <a:latin typeface="ui-sans-serif"/>
                  </a:rPr>
                  <a:t>Timeline</a:t>
                </a:r>
              </a:p>
              <a:p>
                <a:pPr algn="ctr">
                  <a:buNone/>
                </a:pPr>
                <a:r>
                  <a:rPr lang="en-IN" sz="1400" b="1" i="0" dirty="0">
                    <a:effectLst/>
                    <a:latin typeface="ui-sans-serif"/>
                  </a:rPr>
                  <a:t>4-6 weeks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DF60FB7-7FBA-2AC9-10B5-656BA6F42910}"/>
                  </a:ext>
                </a:extLst>
              </p:cNvPr>
              <p:cNvSpPr txBox="1"/>
              <p:nvPr/>
            </p:nvSpPr>
            <p:spPr>
              <a:xfrm>
                <a:off x="252919" y="3581446"/>
                <a:ext cx="26286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i="0" dirty="0">
                    <a:solidFill>
                      <a:schemeClr val="accent6"/>
                    </a:solidFill>
                    <a:effectLst/>
                    <a:latin typeface="ui-sans-serif"/>
                  </a:rPr>
                  <a:t>Reduce 'Item Unavailable' cancellations by 60%</a:t>
                </a:r>
                <a:endParaRPr lang="en-IN" sz="14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6E84FBE-49F5-88DD-5A35-87587C7C945B}"/>
                </a:ext>
              </a:extLst>
            </p:cNvPr>
            <p:cNvGrpSpPr/>
            <p:nvPr/>
          </p:nvGrpSpPr>
          <p:grpSpPr>
            <a:xfrm>
              <a:off x="3048553" y="3070548"/>
              <a:ext cx="3047482" cy="1037832"/>
              <a:chOff x="2946378" y="2969275"/>
              <a:chExt cx="3047482" cy="1037832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CB6E19-49F7-7C4A-A213-4932E8C92F74}"/>
                  </a:ext>
                </a:extLst>
              </p:cNvPr>
              <p:cNvSpPr txBox="1"/>
              <p:nvPr/>
            </p:nvSpPr>
            <p:spPr>
              <a:xfrm>
                <a:off x="2946378" y="2969276"/>
                <a:ext cx="12581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IN" sz="1400" b="0" i="0" dirty="0">
                    <a:effectLst/>
                    <a:latin typeface="ui-sans-serif"/>
                  </a:rPr>
                  <a:t>Impact</a:t>
                </a:r>
              </a:p>
              <a:p>
                <a:pPr algn="ctr">
                  <a:buNone/>
                </a:pPr>
                <a:r>
                  <a:rPr lang="en-IN" sz="1400" b="1" i="0" dirty="0">
                    <a:solidFill>
                      <a:schemeClr val="accent6"/>
                    </a:solidFill>
                    <a:effectLst/>
                    <a:latin typeface="ui-sans-serif"/>
                  </a:rPr>
                  <a:t>Medium</a:t>
                </a: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9207AE0A-E741-EE16-E6B1-8C5C911EF606}"/>
                  </a:ext>
                </a:extLst>
              </p:cNvPr>
              <p:cNvGrpSpPr/>
              <p:nvPr/>
            </p:nvGrpSpPr>
            <p:grpSpPr>
              <a:xfrm>
                <a:off x="3177184" y="2969275"/>
                <a:ext cx="2816676" cy="1037832"/>
                <a:chOff x="3177184" y="2969275"/>
                <a:chExt cx="2816676" cy="1037832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1562333-145F-A514-4A52-AB8032638CDC}"/>
                    </a:ext>
                  </a:extLst>
                </p:cNvPr>
                <p:cNvSpPr txBox="1"/>
                <p:nvPr/>
              </p:nvSpPr>
              <p:spPr>
                <a:xfrm>
                  <a:off x="3510324" y="2969275"/>
                  <a:ext cx="17996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buNone/>
                  </a:pPr>
                  <a:r>
                    <a:rPr lang="en-IN" sz="1400" b="0" i="0" dirty="0">
                      <a:effectLst/>
                      <a:latin typeface="ui-sans-serif"/>
                    </a:rPr>
                    <a:t>Effort</a:t>
                  </a:r>
                </a:p>
                <a:p>
                  <a:pPr algn="ctr">
                    <a:buNone/>
                  </a:pPr>
                  <a:r>
                    <a:rPr lang="en-IN" sz="1400" b="1" i="0" dirty="0">
                      <a:solidFill>
                        <a:schemeClr val="accent6"/>
                      </a:solidFill>
                      <a:effectLst/>
                      <a:latin typeface="ui-sans-serif"/>
                    </a:rPr>
                    <a:t>Medium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579656E-81A0-612A-3EF9-7783820D699B}"/>
                    </a:ext>
                  </a:extLst>
                </p:cNvPr>
                <p:cNvSpPr txBox="1"/>
                <p:nvPr/>
              </p:nvSpPr>
              <p:spPr>
                <a:xfrm>
                  <a:off x="4615775" y="2969278"/>
                  <a:ext cx="137808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buNone/>
                  </a:pPr>
                  <a:r>
                    <a:rPr lang="en-IN" sz="1400" b="0" i="0" dirty="0">
                      <a:effectLst/>
                      <a:latin typeface="ui-sans-serif"/>
                    </a:rPr>
                    <a:t>Timeline</a:t>
                  </a:r>
                </a:p>
                <a:p>
                  <a:pPr algn="ctr">
                    <a:buNone/>
                  </a:pPr>
                  <a:r>
                    <a:rPr lang="en-IN" sz="1400" b="1" dirty="0">
                      <a:latin typeface="ui-sans-serif"/>
                    </a:rPr>
                    <a:t>3-4</a:t>
                  </a:r>
                  <a:r>
                    <a:rPr lang="en-IN" sz="1400" b="1" i="0" dirty="0">
                      <a:effectLst/>
                      <a:latin typeface="ui-sans-serif"/>
                    </a:rPr>
                    <a:t> weeks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AE37CD1-60B2-AD09-5FD7-7A165CE2FAE7}"/>
                    </a:ext>
                  </a:extLst>
                </p:cNvPr>
                <p:cNvSpPr txBox="1"/>
                <p:nvPr/>
              </p:nvSpPr>
              <p:spPr>
                <a:xfrm>
                  <a:off x="3177184" y="3483887"/>
                  <a:ext cx="2628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400" b="1" i="0" dirty="0">
                      <a:solidFill>
                        <a:schemeClr val="accent6"/>
                      </a:solidFill>
                      <a:effectLst/>
                      <a:latin typeface="ui-sans-serif"/>
                    </a:rPr>
                    <a:t>Reduce 'High Volume' cancellations by 70%</a:t>
                  </a:r>
                  <a:endParaRPr lang="en-IN" sz="1400" b="1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1D12D02-DA07-734F-06BC-870D1F0D239A}"/>
                </a:ext>
              </a:extLst>
            </p:cNvPr>
            <p:cNvGrpSpPr/>
            <p:nvPr/>
          </p:nvGrpSpPr>
          <p:grpSpPr>
            <a:xfrm>
              <a:off x="5978199" y="3070548"/>
              <a:ext cx="3047482" cy="1037832"/>
              <a:chOff x="5876024" y="2957530"/>
              <a:chExt cx="3047482" cy="103783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A94A990-B126-3907-E453-48ED0C41FE4F}"/>
                  </a:ext>
                </a:extLst>
              </p:cNvPr>
              <p:cNvSpPr txBox="1"/>
              <p:nvPr/>
            </p:nvSpPr>
            <p:spPr>
              <a:xfrm>
                <a:off x="5876024" y="2957531"/>
                <a:ext cx="12581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IN" sz="1400" b="0" i="0" dirty="0">
                    <a:effectLst/>
                    <a:latin typeface="ui-sans-serif"/>
                  </a:rPr>
                  <a:t>Impact</a:t>
                </a:r>
              </a:p>
              <a:p>
                <a:pPr algn="ctr">
                  <a:buNone/>
                </a:pPr>
                <a:r>
                  <a:rPr lang="en-IN" sz="1400" b="1" dirty="0">
                    <a:solidFill>
                      <a:schemeClr val="accent4"/>
                    </a:solidFill>
                    <a:latin typeface="ui-sans-serif"/>
                  </a:rPr>
                  <a:t>Low</a:t>
                </a:r>
                <a:endParaRPr lang="en-IN" sz="1400" b="1" i="0" dirty="0">
                  <a:solidFill>
                    <a:schemeClr val="accent4"/>
                  </a:solidFill>
                  <a:effectLst/>
                  <a:latin typeface="ui-sans-serif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E67748B-9D98-0F1C-BAF9-47A704EC2690}"/>
                  </a:ext>
                </a:extLst>
              </p:cNvPr>
              <p:cNvSpPr txBox="1"/>
              <p:nvPr/>
            </p:nvSpPr>
            <p:spPr>
              <a:xfrm>
                <a:off x="6439970" y="2957530"/>
                <a:ext cx="17996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IN" sz="1400" b="0" i="0" dirty="0">
                    <a:effectLst/>
                    <a:latin typeface="ui-sans-serif"/>
                  </a:rPr>
                  <a:t>Effort</a:t>
                </a:r>
              </a:p>
              <a:p>
                <a:pPr algn="ctr">
                  <a:buNone/>
                </a:pPr>
                <a:r>
                  <a:rPr lang="en-IN" sz="1400" b="1" i="0" dirty="0">
                    <a:solidFill>
                      <a:schemeClr val="accent4"/>
                    </a:solidFill>
                    <a:effectLst/>
                    <a:latin typeface="ui-sans-serif"/>
                  </a:rPr>
                  <a:t>Low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55754D1-CCCB-FD34-C466-7E9503EC0F6A}"/>
                  </a:ext>
                </a:extLst>
              </p:cNvPr>
              <p:cNvSpPr txBox="1"/>
              <p:nvPr/>
            </p:nvSpPr>
            <p:spPr>
              <a:xfrm>
                <a:off x="7545421" y="2957533"/>
                <a:ext cx="13780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IN" sz="1400" b="0" i="0" dirty="0">
                    <a:effectLst/>
                    <a:latin typeface="ui-sans-serif"/>
                  </a:rPr>
                  <a:t>Timeline</a:t>
                </a:r>
              </a:p>
              <a:p>
                <a:pPr algn="ctr">
                  <a:buNone/>
                </a:pPr>
                <a:r>
                  <a:rPr lang="en-IN" sz="1400" b="1" dirty="0">
                    <a:latin typeface="ui-sans-serif"/>
                  </a:rPr>
                  <a:t>1-2</a:t>
                </a:r>
                <a:r>
                  <a:rPr lang="en-IN" sz="1400" b="1" i="0" dirty="0">
                    <a:effectLst/>
                    <a:latin typeface="ui-sans-serif"/>
                  </a:rPr>
                  <a:t> weeks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C459139-1815-7BBF-5962-1402EBFA7760}"/>
                  </a:ext>
                </a:extLst>
              </p:cNvPr>
              <p:cNvSpPr txBox="1"/>
              <p:nvPr/>
            </p:nvSpPr>
            <p:spPr>
              <a:xfrm>
                <a:off x="6106831" y="3472142"/>
                <a:ext cx="26286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i="0" dirty="0">
                    <a:solidFill>
                      <a:schemeClr val="accent6"/>
                    </a:solidFill>
                    <a:effectLst/>
                    <a:latin typeface="ui-sans-serif"/>
                  </a:rPr>
                  <a:t>Reduce 'Item Unavailable' cancellations by 60%</a:t>
                </a:r>
                <a:endParaRPr lang="en-IN" sz="1400" b="1" dirty="0">
                  <a:solidFill>
                    <a:schemeClr val="accent6"/>
                  </a:solidFill>
                </a:endParaRPr>
              </a:p>
            </p:txBody>
          </p:sp>
        </p:grp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3F830C49-98DA-8369-F908-BA04F62D46D0}"/>
              </a:ext>
            </a:extLst>
          </p:cNvPr>
          <p:cNvSpPr/>
          <p:nvPr/>
        </p:nvSpPr>
        <p:spPr>
          <a:xfrm>
            <a:off x="183169" y="593453"/>
            <a:ext cx="8767864" cy="9694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27322A-6F4B-EFCD-17EB-AF2B3512A5F6}"/>
              </a:ext>
            </a:extLst>
          </p:cNvPr>
          <p:cNvSpPr txBox="1"/>
          <p:nvPr/>
        </p:nvSpPr>
        <p:spPr>
          <a:xfrm>
            <a:off x="218596" y="580958"/>
            <a:ext cx="86754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rgbClr val="141D2E"/>
                </a:solidFill>
                <a:effectLst/>
                <a:latin typeface="Space Grotesk"/>
              </a:rPr>
              <a:t>Solution Strategy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626D84"/>
                </a:solidFill>
                <a:effectLst/>
                <a:latin typeface="ui-sans-serif"/>
              </a:rPr>
              <a:t>Focus on restaurant-side improvements first, then customer recovery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8913065-196D-AD9A-8004-B5BB5A125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375" y="1042623"/>
            <a:ext cx="6530502" cy="4914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06" y="112192"/>
            <a:ext cx="8229600" cy="423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End-to-End Wireframes</a:t>
            </a:r>
            <a:endParaRPr lang="en-US" sz="3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A0571C-048C-3485-AF6A-38E600924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5" y="1002159"/>
            <a:ext cx="4740613" cy="18346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97F7F3-7B3D-0806-1AD5-235188E98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6" y="2836796"/>
            <a:ext cx="4740613" cy="23067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E1D4E24-5CA3-E1A1-7133-AE626E8047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470" y="993621"/>
            <a:ext cx="4040223" cy="1619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6B46A0-8427-A745-A1E3-8944D5BE1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469" y="2613020"/>
            <a:ext cx="4040223" cy="15710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741693E-1BC7-6754-15E3-5F7AD1775A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0507" y="4216792"/>
            <a:ext cx="3638145" cy="85578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D5EF461-2E78-2283-084F-42E3B0D47AEE}"/>
              </a:ext>
            </a:extLst>
          </p:cNvPr>
          <p:cNvSpPr txBox="1"/>
          <p:nvPr/>
        </p:nvSpPr>
        <p:spPr>
          <a:xfrm>
            <a:off x="84304" y="535764"/>
            <a:ext cx="4607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200" b="1" i="0" dirty="0">
                <a:solidFill>
                  <a:srgbClr val="141D2E"/>
                </a:solidFill>
                <a:effectLst/>
                <a:latin typeface="Space Grotesk"/>
              </a:rPr>
              <a:t>Customer App - Complete User Journey</a:t>
            </a:r>
          </a:p>
          <a:p>
            <a:pPr algn="ctr">
              <a:buNone/>
            </a:pPr>
            <a:r>
              <a:rPr lang="en-US" sz="1200" b="0" i="0" dirty="0">
                <a:solidFill>
                  <a:srgbClr val="626D84"/>
                </a:solidFill>
                <a:effectLst/>
                <a:latin typeface="ui-sans-serif"/>
              </a:rPr>
              <a:t>From app launch to order completion &amp; recovery flows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6816B8-5652-80AB-7D41-408B7BACC7EF}"/>
              </a:ext>
            </a:extLst>
          </p:cNvPr>
          <p:cNvSpPr txBox="1"/>
          <p:nvPr/>
        </p:nvSpPr>
        <p:spPr>
          <a:xfrm>
            <a:off x="4837885" y="568486"/>
            <a:ext cx="44033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200" b="1" i="0" dirty="0">
                <a:solidFill>
                  <a:srgbClr val="141D2E"/>
                </a:solidFill>
                <a:effectLst/>
                <a:latin typeface="Space Grotesk"/>
              </a:rPr>
              <a:t>Restaurant Partner App - Complete Dashboard Flow</a:t>
            </a:r>
          </a:p>
          <a:p>
            <a:pPr algn="ctr">
              <a:buNone/>
            </a:pPr>
            <a:r>
              <a:rPr lang="en-US" sz="1200" b="0" i="0" dirty="0">
                <a:solidFill>
                  <a:srgbClr val="626D84"/>
                </a:solidFill>
                <a:effectLst/>
                <a:latin typeface="ui-sans-serif"/>
              </a:rPr>
              <a:t>From opening to order management, inventory control &amp; analytics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E120E93-CA71-1821-C670-3FDBE37C7BCC}"/>
              </a:ext>
            </a:extLst>
          </p:cNvPr>
          <p:cNvCxnSpPr>
            <a:cxnSpLocks/>
          </p:cNvCxnSpPr>
          <p:nvPr/>
        </p:nvCxnSpPr>
        <p:spPr>
          <a:xfrm>
            <a:off x="4944890" y="399239"/>
            <a:ext cx="0" cy="4727643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Success Metrics &amp; Risks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125DC1-E1B4-7987-4D5E-E01E8605BF3D}"/>
              </a:ext>
            </a:extLst>
          </p:cNvPr>
          <p:cNvSpPr txBox="1"/>
          <p:nvPr/>
        </p:nvSpPr>
        <p:spPr>
          <a:xfrm>
            <a:off x="0" y="62690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26D84"/>
                </a:solidFill>
                <a:effectLst/>
                <a:latin typeface="ui-sans-serif"/>
              </a:rPr>
              <a:t>Defining what success looks like and how we'll manage potential downsides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CB4946-E511-7341-CD32-BC15F457EF0F}"/>
              </a:ext>
            </a:extLst>
          </p:cNvPr>
          <p:cNvSpPr/>
          <p:nvPr/>
        </p:nvSpPr>
        <p:spPr>
          <a:xfrm>
            <a:off x="457200" y="1134894"/>
            <a:ext cx="2478932" cy="1011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69F9ED-F466-820D-024C-755553B075AB}"/>
              </a:ext>
            </a:extLst>
          </p:cNvPr>
          <p:cNvSpPr/>
          <p:nvPr/>
        </p:nvSpPr>
        <p:spPr>
          <a:xfrm>
            <a:off x="3488987" y="1134894"/>
            <a:ext cx="2256817" cy="1011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290410-3FC6-FF92-C509-600CC2C1BB00}"/>
              </a:ext>
            </a:extLst>
          </p:cNvPr>
          <p:cNvSpPr/>
          <p:nvPr/>
        </p:nvSpPr>
        <p:spPr>
          <a:xfrm>
            <a:off x="6563738" y="1134894"/>
            <a:ext cx="2156298" cy="1011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BB7DB4-D21B-61FB-85C9-99AD28A2E295}"/>
              </a:ext>
            </a:extLst>
          </p:cNvPr>
          <p:cNvSpPr txBox="1"/>
          <p:nvPr/>
        </p:nvSpPr>
        <p:spPr>
          <a:xfrm>
            <a:off x="457200" y="1128409"/>
            <a:ext cx="2478932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rgbClr val="141D2E"/>
                </a:solidFill>
                <a:effectLst/>
                <a:latin typeface="ui-sans-serif"/>
              </a:rPr>
              <a:t>Cancellation Rate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626D84"/>
                </a:solidFill>
                <a:effectLst/>
                <a:latin typeface="ui-sans-serif"/>
              </a:rPr>
              <a:t>Current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DC2828"/>
                </a:solidFill>
                <a:effectLst/>
                <a:latin typeface="Space Grotesk"/>
              </a:rPr>
              <a:t>33% </a:t>
            </a:r>
            <a:r>
              <a:rPr lang="en-US" sz="1200" b="0" i="0" dirty="0">
                <a:solidFill>
                  <a:srgbClr val="626D84"/>
                </a:solidFill>
                <a:effectLst/>
                <a:latin typeface="ui-sans-serif"/>
              </a:rPr>
              <a:t>→    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626D84"/>
                </a:solidFill>
                <a:effectLst/>
                <a:latin typeface="ui-sans-serif"/>
              </a:rPr>
              <a:t>Restaurant-side cancellations as % of total orders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0F3ACE-D733-A5C6-888B-2FCE30A304D2}"/>
              </a:ext>
            </a:extLst>
          </p:cNvPr>
          <p:cNvSpPr txBox="1"/>
          <p:nvPr/>
        </p:nvSpPr>
        <p:spPr>
          <a:xfrm>
            <a:off x="1117059" y="1323596"/>
            <a:ext cx="18190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200" b="0" i="0" dirty="0">
                <a:solidFill>
                  <a:srgbClr val="626D84"/>
                </a:solidFill>
                <a:effectLst/>
                <a:latin typeface="ui-sans-serif"/>
              </a:rPr>
              <a:t>Target</a:t>
            </a:r>
          </a:p>
          <a:p>
            <a:pPr algn="l">
              <a:buNone/>
            </a:pPr>
            <a:r>
              <a:rPr lang="en-IN" sz="1200" b="1" i="0" dirty="0">
                <a:solidFill>
                  <a:srgbClr val="29A36A"/>
                </a:solidFill>
                <a:effectLst/>
                <a:latin typeface="Space Grotesk"/>
              </a:rPr>
              <a:t>&lt;10%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785481-4497-5887-5680-E685B2FD1C4F}"/>
              </a:ext>
            </a:extLst>
          </p:cNvPr>
          <p:cNvSpPr txBox="1"/>
          <p:nvPr/>
        </p:nvSpPr>
        <p:spPr>
          <a:xfrm>
            <a:off x="3488987" y="1128409"/>
            <a:ext cx="2256817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rgbClr val="141D2E"/>
                </a:solidFill>
                <a:effectLst/>
                <a:latin typeface="ui-sans-serif"/>
              </a:rPr>
              <a:t>Orders per Month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626D84"/>
                </a:solidFill>
                <a:effectLst/>
                <a:latin typeface="ui-sans-serif"/>
              </a:rPr>
              <a:t>Current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DC2828"/>
                </a:solidFill>
                <a:effectLst/>
                <a:latin typeface="Space Grotesk"/>
              </a:rPr>
              <a:t>2.8</a:t>
            </a:r>
            <a:r>
              <a:rPr lang="en-US" sz="1200" b="0" i="0" dirty="0">
                <a:solidFill>
                  <a:srgbClr val="626D84"/>
                </a:solidFill>
                <a:effectLst/>
                <a:latin typeface="ui-sans-serif"/>
              </a:rPr>
              <a:t>→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626D84"/>
                </a:solidFill>
                <a:effectLst/>
                <a:latin typeface="ui-sans-serif"/>
              </a:rPr>
              <a:t>Average orders per active customer per month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6B6643-A423-DDE5-BD0B-47D9BA464680}"/>
              </a:ext>
            </a:extLst>
          </p:cNvPr>
          <p:cNvSpPr txBox="1"/>
          <p:nvPr/>
        </p:nvSpPr>
        <p:spPr>
          <a:xfrm>
            <a:off x="4346642" y="1323596"/>
            <a:ext cx="9062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200" b="0" i="0" dirty="0">
                <a:solidFill>
                  <a:srgbClr val="626D84"/>
                </a:solidFill>
                <a:effectLst/>
                <a:latin typeface="ui-sans-serif"/>
              </a:rPr>
              <a:t>Target</a:t>
            </a:r>
          </a:p>
          <a:p>
            <a:pPr algn="l">
              <a:buNone/>
            </a:pPr>
            <a:r>
              <a:rPr lang="en-IN" sz="1200" b="1" i="0" dirty="0">
                <a:solidFill>
                  <a:srgbClr val="29A36A"/>
                </a:solidFill>
                <a:effectLst/>
                <a:latin typeface="Space Grotesk"/>
              </a:rPr>
              <a:t>3.5+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15E16F-798D-47EF-C389-E39687674A44}"/>
              </a:ext>
            </a:extLst>
          </p:cNvPr>
          <p:cNvSpPr txBox="1"/>
          <p:nvPr/>
        </p:nvSpPr>
        <p:spPr>
          <a:xfrm>
            <a:off x="6563738" y="1128409"/>
            <a:ext cx="2156298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rgbClr val="141D2E"/>
                </a:solidFill>
                <a:effectLst/>
                <a:latin typeface="ui-sans-serif"/>
              </a:rPr>
              <a:t>Customer NPS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626D84"/>
                </a:solidFill>
                <a:effectLst/>
                <a:latin typeface="ui-sans-serif"/>
              </a:rPr>
              <a:t>Current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DC2828"/>
                </a:solidFill>
                <a:effectLst/>
                <a:latin typeface="Space Grotesk"/>
              </a:rPr>
              <a:t>35</a:t>
            </a:r>
            <a:r>
              <a:rPr lang="en-US" sz="1200" b="0" i="0" dirty="0">
                <a:solidFill>
                  <a:srgbClr val="626D84"/>
                </a:solidFill>
                <a:effectLst/>
                <a:latin typeface="ui-sans-serif"/>
              </a:rPr>
              <a:t>→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626D84"/>
                </a:solidFill>
                <a:effectLst/>
                <a:latin typeface="ui-sans-serif"/>
              </a:rPr>
              <a:t>Net Promoter Score from post-order surveys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DE90B5-03FF-7FFD-4B9F-A8F73B0D04F2}"/>
              </a:ext>
            </a:extLst>
          </p:cNvPr>
          <p:cNvSpPr txBox="1"/>
          <p:nvPr/>
        </p:nvSpPr>
        <p:spPr>
          <a:xfrm>
            <a:off x="7438417" y="1323595"/>
            <a:ext cx="770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rgbClr val="626D84"/>
                </a:solidFill>
                <a:effectLst/>
                <a:latin typeface="ui-sans-serif"/>
              </a:rPr>
              <a:t>Target</a:t>
            </a:r>
          </a:p>
          <a:p>
            <a:pPr algn="l">
              <a:buNone/>
            </a:pPr>
            <a:r>
              <a:rPr lang="en-US" sz="1200" b="1" i="0" dirty="0">
                <a:solidFill>
                  <a:srgbClr val="29A36A"/>
                </a:solidFill>
                <a:effectLst/>
                <a:latin typeface="Space Grotesk"/>
              </a:rPr>
              <a:t>45+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96F79D8-91B6-48C0-F0F7-7C99E69B8AFB}"/>
              </a:ext>
            </a:extLst>
          </p:cNvPr>
          <p:cNvGrpSpPr/>
          <p:nvPr/>
        </p:nvGrpSpPr>
        <p:grpSpPr>
          <a:xfrm>
            <a:off x="285344" y="2332774"/>
            <a:ext cx="4364477" cy="1900294"/>
            <a:chOff x="285344" y="2457696"/>
            <a:chExt cx="4364477" cy="1900294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333B0ED-6957-5506-AA3C-7C3EF9A8D089}"/>
                </a:ext>
              </a:extLst>
            </p:cNvPr>
            <p:cNvSpPr/>
            <p:nvPr/>
          </p:nvSpPr>
          <p:spPr>
            <a:xfrm>
              <a:off x="285344" y="2457696"/>
              <a:ext cx="4364477" cy="518426"/>
            </a:xfrm>
            <a:custGeom>
              <a:avLst/>
              <a:gdLst>
                <a:gd name="csX0" fmla="*/ 0 w 4364477"/>
                <a:gd name="csY0" fmla="*/ 51843 h 518426"/>
                <a:gd name="csX1" fmla="*/ 51843 w 4364477"/>
                <a:gd name="csY1" fmla="*/ 0 h 518426"/>
                <a:gd name="csX2" fmla="*/ 4312634 w 4364477"/>
                <a:gd name="csY2" fmla="*/ 0 h 518426"/>
                <a:gd name="csX3" fmla="*/ 4364477 w 4364477"/>
                <a:gd name="csY3" fmla="*/ 51843 h 518426"/>
                <a:gd name="csX4" fmla="*/ 4364477 w 4364477"/>
                <a:gd name="csY4" fmla="*/ 466583 h 518426"/>
                <a:gd name="csX5" fmla="*/ 4312634 w 4364477"/>
                <a:gd name="csY5" fmla="*/ 518426 h 518426"/>
                <a:gd name="csX6" fmla="*/ 51843 w 4364477"/>
                <a:gd name="csY6" fmla="*/ 518426 h 518426"/>
                <a:gd name="csX7" fmla="*/ 0 w 4364477"/>
                <a:gd name="csY7" fmla="*/ 466583 h 518426"/>
                <a:gd name="csX8" fmla="*/ 0 w 4364477"/>
                <a:gd name="csY8" fmla="*/ 51843 h 518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364477" h="518426">
                  <a:moveTo>
                    <a:pt x="0" y="51843"/>
                  </a:moveTo>
                  <a:cubicBezTo>
                    <a:pt x="0" y="23211"/>
                    <a:pt x="23211" y="0"/>
                    <a:pt x="51843" y="0"/>
                  </a:cubicBezTo>
                  <a:lnTo>
                    <a:pt x="4312634" y="0"/>
                  </a:lnTo>
                  <a:cubicBezTo>
                    <a:pt x="4341266" y="0"/>
                    <a:pt x="4364477" y="23211"/>
                    <a:pt x="4364477" y="51843"/>
                  </a:cubicBezTo>
                  <a:lnTo>
                    <a:pt x="4364477" y="466583"/>
                  </a:lnTo>
                  <a:cubicBezTo>
                    <a:pt x="4364477" y="495215"/>
                    <a:pt x="4341266" y="518426"/>
                    <a:pt x="4312634" y="518426"/>
                  </a:cubicBezTo>
                  <a:lnTo>
                    <a:pt x="51843" y="518426"/>
                  </a:lnTo>
                  <a:cubicBezTo>
                    <a:pt x="23211" y="518426"/>
                    <a:pt x="0" y="495215"/>
                    <a:pt x="0" y="466583"/>
                  </a:cubicBezTo>
                  <a:lnTo>
                    <a:pt x="0" y="51843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8044" tIns="30424" rIns="38044" bIns="30424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200" b="1" i="0" kern="1200">
                  <a:solidFill>
                    <a:schemeClr val="tx1"/>
                  </a:solidFill>
                </a:rPr>
                <a:t>Supporting Metrics</a:t>
              </a:r>
              <a:endParaRPr lang="en-IN" sz="1200" kern="1200" dirty="0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D43B43F-0853-5273-FB5B-A69DA09F03B1}"/>
                </a:ext>
              </a:extLst>
            </p:cNvPr>
            <p:cNvSpPr/>
            <p:nvPr/>
          </p:nvSpPr>
          <p:spPr>
            <a:xfrm>
              <a:off x="834875" y="3069439"/>
              <a:ext cx="3814945" cy="518426"/>
            </a:xfrm>
            <a:custGeom>
              <a:avLst/>
              <a:gdLst>
                <a:gd name="csX0" fmla="*/ 0 w 3814945"/>
                <a:gd name="csY0" fmla="*/ 86422 h 518426"/>
                <a:gd name="csX1" fmla="*/ 86422 w 3814945"/>
                <a:gd name="csY1" fmla="*/ 0 h 518426"/>
                <a:gd name="csX2" fmla="*/ 3728523 w 3814945"/>
                <a:gd name="csY2" fmla="*/ 0 h 518426"/>
                <a:gd name="csX3" fmla="*/ 3814945 w 3814945"/>
                <a:gd name="csY3" fmla="*/ 86422 h 518426"/>
                <a:gd name="csX4" fmla="*/ 3814945 w 3814945"/>
                <a:gd name="csY4" fmla="*/ 432004 h 518426"/>
                <a:gd name="csX5" fmla="*/ 3728523 w 3814945"/>
                <a:gd name="csY5" fmla="*/ 518426 h 518426"/>
                <a:gd name="csX6" fmla="*/ 86422 w 3814945"/>
                <a:gd name="csY6" fmla="*/ 518426 h 518426"/>
                <a:gd name="csX7" fmla="*/ 0 w 3814945"/>
                <a:gd name="csY7" fmla="*/ 432004 h 518426"/>
                <a:gd name="csX8" fmla="*/ 0 w 3814945"/>
                <a:gd name="csY8" fmla="*/ 86422 h 518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14945" h="518426">
                  <a:moveTo>
                    <a:pt x="0" y="86422"/>
                  </a:moveTo>
                  <a:cubicBezTo>
                    <a:pt x="0" y="38692"/>
                    <a:pt x="38692" y="0"/>
                    <a:pt x="86422" y="0"/>
                  </a:cubicBezTo>
                  <a:lnTo>
                    <a:pt x="3728523" y="0"/>
                  </a:lnTo>
                  <a:cubicBezTo>
                    <a:pt x="3776253" y="0"/>
                    <a:pt x="3814945" y="38692"/>
                    <a:pt x="3814945" y="86422"/>
                  </a:cubicBezTo>
                  <a:lnTo>
                    <a:pt x="3814945" y="432004"/>
                  </a:lnTo>
                  <a:cubicBezTo>
                    <a:pt x="3814945" y="479734"/>
                    <a:pt x="3776253" y="518426"/>
                    <a:pt x="3728523" y="518426"/>
                  </a:cubicBezTo>
                  <a:lnTo>
                    <a:pt x="86422" y="518426"/>
                  </a:lnTo>
                  <a:cubicBezTo>
                    <a:pt x="38692" y="518426"/>
                    <a:pt x="0" y="479734"/>
                    <a:pt x="0" y="432004"/>
                  </a:cubicBezTo>
                  <a:lnTo>
                    <a:pt x="0" y="86422"/>
                  </a:lnTo>
                  <a:close/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656" tIns="110656" rIns="110656" bIns="110656" numCol="1" spcCol="1270" anchor="t" anchorCtr="0">
              <a:noAutofit/>
            </a:bodyPr>
            <a:lstStyle/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200" b="1" i="0" kern="1200" dirty="0">
                  <a:solidFill>
                    <a:schemeClr val="tx1"/>
                  </a:solidFill>
                </a:rPr>
                <a:t>Menu Sync Rate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b="0" i="0" kern="1200" dirty="0">
                  <a:solidFill>
                    <a:schemeClr val="tx1"/>
                  </a:solidFill>
                </a:rPr>
                <a:t>% of restaurants with real-time menu updates</a:t>
              </a: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E237F04-32E0-CB1E-11F8-30CB48CFD36F}"/>
                </a:ext>
              </a:extLst>
            </p:cNvPr>
            <p:cNvSpPr/>
            <p:nvPr/>
          </p:nvSpPr>
          <p:spPr>
            <a:xfrm>
              <a:off x="834875" y="3650075"/>
              <a:ext cx="3814945" cy="707915"/>
            </a:xfrm>
            <a:custGeom>
              <a:avLst/>
              <a:gdLst>
                <a:gd name="csX0" fmla="*/ 0 w 3814945"/>
                <a:gd name="csY0" fmla="*/ 86422 h 518426"/>
                <a:gd name="csX1" fmla="*/ 86422 w 3814945"/>
                <a:gd name="csY1" fmla="*/ 0 h 518426"/>
                <a:gd name="csX2" fmla="*/ 3728523 w 3814945"/>
                <a:gd name="csY2" fmla="*/ 0 h 518426"/>
                <a:gd name="csX3" fmla="*/ 3814945 w 3814945"/>
                <a:gd name="csY3" fmla="*/ 86422 h 518426"/>
                <a:gd name="csX4" fmla="*/ 3814945 w 3814945"/>
                <a:gd name="csY4" fmla="*/ 432004 h 518426"/>
                <a:gd name="csX5" fmla="*/ 3728523 w 3814945"/>
                <a:gd name="csY5" fmla="*/ 518426 h 518426"/>
                <a:gd name="csX6" fmla="*/ 86422 w 3814945"/>
                <a:gd name="csY6" fmla="*/ 518426 h 518426"/>
                <a:gd name="csX7" fmla="*/ 0 w 3814945"/>
                <a:gd name="csY7" fmla="*/ 432004 h 518426"/>
                <a:gd name="csX8" fmla="*/ 0 w 3814945"/>
                <a:gd name="csY8" fmla="*/ 86422 h 518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14945" h="518426">
                  <a:moveTo>
                    <a:pt x="0" y="86422"/>
                  </a:moveTo>
                  <a:cubicBezTo>
                    <a:pt x="0" y="38692"/>
                    <a:pt x="38692" y="0"/>
                    <a:pt x="86422" y="0"/>
                  </a:cubicBezTo>
                  <a:lnTo>
                    <a:pt x="3728523" y="0"/>
                  </a:lnTo>
                  <a:cubicBezTo>
                    <a:pt x="3776253" y="0"/>
                    <a:pt x="3814945" y="38692"/>
                    <a:pt x="3814945" y="86422"/>
                  </a:cubicBezTo>
                  <a:lnTo>
                    <a:pt x="3814945" y="432004"/>
                  </a:lnTo>
                  <a:cubicBezTo>
                    <a:pt x="3814945" y="479734"/>
                    <a:pt x="3776253" y="518426"/>
                    <a:pt x="3728523" y="518426"/>
                  </a:cubicBezTo>
                  <a:lnTo>
                    <a:pt x="86422" y="518426"/>
                  </a:lnTo>
                  <a:cubicBezTo>
                    <a:pt x="38692" y="518426"/>
                    <a:pt x="0" y="479734"/>
                    <a:pt x="0" y="432004"/>
                  </a:cubicBezTo>
                  <a:lnTo>
                    <a:pt x="0" y="86422"/>
                  </a:lnTo>
                  <a:close/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656" tIns="110656" rIns="110656" bIns="110656" numCol="1" spcCol="1270" anchor="t" anchorCtr="0">
              <a:noAutofit/>
            </a:bodyPr>
            <a:lstStyle/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200" b="1" i="0" kern="1200" dirty="0">
                  <a:solidFill>
                    <a:schemeClr val="tx1"/>
                  </a:solidFill>
                </a:rPr>
                <a:t>Recovery Conversion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b="0" i="0" kern="1200" dirty="0">
                  <a:solidFill>
                    <a:schemeClr val="tx1"/>
                  </a:solidFill>
                </a:rPr>
                <a:t>% of cancelled order users who re-order within 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b="0" i="0" kern="1200" dirty="0">
                  <a:solidFill>
                    <a:schemeClr val="tx1"/>
                  </a:solidFill>
                </a:rPr>
                <a:t>7 days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C6E4E5F-10D8-3BA9-EAA1-E76EF1AD238C}"/>
              </a:ext>
            </a:extLst>
          </p:cNvPr>
          <p:cNvGrpSpPr/>
          <p:nvPr/>
        </p:nvGrpSpPr>
        <p:grpSpPr>
          <a:xfrm>
            <a:off x="4883285" y="2457695"/>
            <a:ext cx="4202348" cy="1710806"/>
            <a:chOff x="4883285" y="2457695"/>
            <a:chExt cx="4202348" cy="1710806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6194C6B-0A7D-E5DE-6B0C-A9F548594ABF}"/>
                </a:ext>
              </a:extLst>
            </p:cNvPr>
            <p:cNvSpPr/>
            <p:nvPr/>
          </p:nvSpPr>
          <p:spPr>
            <a:xfrm>
              <a:off x="4883285" y="2457695"/>
              <a:ext cx="4202348" cy="518426"/>
            </a:xfrm>
            <a:custGeom>
              <a:avLst/>
              <a:gdLst>
                <a:gd name="csX0" fmla="*/ 0 w 4202348"/>
                <a:gd name="csY0" fmla="*/ 51843 h 518426"/>
                <a:gd name="csX1" fmla="*/ 51843 w 4202348"/>
                <a:gd name="csY1" fmla="*/ 0 h 518426"/>
                <a:gd name="csX2" fmla="*/ 4150505 w 4202348"/>
                <a:gd name="csY2" fmla="*/ 0 h 518426"/>
                <a:gd name="csX3" fmla="*/ 4202348 w 4202348"/>
                <a:gd name="csY3" fmla="*/ 51843 h 518426"/>
                <a:gd name="csX4" fmla="*/ 4202348 w 4202348"/>
                <a:gd name="csY4" fmla="*/ 466583 h 518426"/>
                <a:gd name="csX5" fmla="*/ 4150505 w 4202348"/>
                <a:gd name="csY5" fmla="*/ 518426 h 518426"/>
                <a:gd name="csX6" fmla="*/ 51843 w 4202348"/>
                <a:gd name="csY6" fmla="*/ 518426 h 518426"/>
                <a:gd name="csX7" fmla="*/ 0 w 4202348"/>
                <a:gd name="csY7" fmla="*/ 466583 h 518426"/>
                <a:gd name="csX8" fmla="*/ 0 w 4202348"/>
                <a:gd name="csY8" fmla="*/ 51843 h 518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202348" h="518426">
                  <a:moveTo>
                    <a:pt x="0" y="51843"/>
                  </a:moveTo>
                  <a:cubicBezTo>
                    <a:pt x="0" y="23211"/>
                    <a:pt x="23211" y="0"/>
                    <a:pt x="51843" y="0"/>
                  </a:cubicBezTo>
                  <a:lnTo>
                    <a:pt x="4150505" y="0"/>
                  </a:lnTo>
                  <a:cubicBezTo>
                    <a:pt x="4179137" y="0"/>
                    <a:pt x="4202348" y="23211"/>
                    <a:pt x="4202348" y="51843"/>
                  </a:cubicBezTo>
                  <a:lnTo>
                    <a:pt x="4202348" y="466583"/>
                  </a:lnTo>
                  <a:cubicBezTo>
                    <a:pt x="4202348" y="495215"/>
                    <a:pt x="4179137" y="518426"/>
                    <a:pt x="4150505" y="518426"/>
                  </a:cubicBezTo>
                  <a:lnTo>
                    <a:pt x="51843" y="518426"/>
                  </a:lnTo>
                  <a:cubicBezTo>
                    <a:pt x="23211" y="518426"/>
                    <a:pt x="0" y="495215"/>
                    <a:pt x="0" y="466583"/>
                  </a:cubicBezTo>
                  <a:lnTo>
                    <a:pt x="0" y="51843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8044" tIns="30424" rIns="38044" bIns="30424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200" b="1" i="0" kern="1200">
                  <a:solidFill>
                    <a:schemeClr val="tx1"/>
                  </a:solidFill>
                </a:rPr>
                <a:t>Guardrail Metrics</a:t>
              </a:r>
              <a:endParaRPr lang="en-IN" sz="1200" kern="1200" dirty="0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A6C4FE9-BA67-1219-EEF0-C4F6F29EDB5D}"/>
                </a:ext>
              </a:extLst>
            </p:cNvPr>
            <p:cNvSpPr/>
            <p:nvPr/>
          </p:nvSpPr>
          <p:spPr>
            <a:xfrm>
              <a:off x="5432816" y="3069438"/>
              <a:ext cx="3652817" cy="518426"/>
            </a:xfrm>
            <a:custGeom>
              <a:avLst/>
              <a:gdLst>
                <a:gd name="csX0" fmla="*/ 0 w 3652817"/>
                <a:gd name="csY0" fmla="*/ 86422 h 518426"/>
                <a:gd name="csX1" fmla="*/ 86422 w 3652817"/>
                <a:gd name="csY1" fmla="*/ 0 h 518426"/>
                <a:gd name="csX2" fmla="*/ 3566395 w 3652817"/>
                <a:gd name="csY2" fmla="*/ 0 h 518426"/>
                <a:gd name="csX3" fmla="*/ 3652817 w 3652817"/>
                <a:gd name="csY3" fmla="*/ 86422 h 518426"/>
                <a:gd name="csX4" fmla="*/ 3652817 w 3652817"/>
                <a:gd name="csY4" fmla="*/ 432004 h 518426"/>
                <a:gd name="csX5" fmla="*/ 3566395 w 3652817"/>
                <a:gd name="csY5" fmla="*/ 518426 h 518426"/>
                <a:gd name="csX6" fmla="*/ 86422 w 3652817"/>
                <a:gd name="csY6" fmla="*/ 518426 h 518426"/>
                <a:gd name="csX7" fmla="*/ 0 w 3652817"/>
                <a:gd name="csY7" fmla="*/ 432004 h 518426"/>
                <a:gd name="csX8" fmla="*/ 0 w 3652817"/>
                <a:gd name="csY8" fmla="*/ 86422 h 518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52817" h="518426">
                  <a:moveTo>
                    <a:pt x="0" y="86422"/>
                  </a:moveTo>
                  <a:cubicBezTo>
                    <a:pt x="0" y="38692"/>
                    <a:pt x="38692" y="0"/>
                    <a:pt x="86422" y="0"/>
                  </a:cubicBezTo>
                  <a:lnTo>
                    <a:pt x="3566395" y="0"/>
                  </a:lnTo>
                  <a:cubicBezTo>
                    <a:pt x="3614125" y="0"/>
                    <a:pt x="3652817" y="38692"/>
                    <a:pt x="3652817" y="86422"/>
                  </a:cubicBezTo>
                  <a:lnTo>
                    <a:pt x="3652817" y="432004"/>
                  </a:lnTo>
                  <a:cubicBezTo>
                    <a:pt x="3652817" y="479734"/>
                    <a:pt x="3614125" y="518426"/>
                    <a:pt x="3566395" y="518426"/>
                  </a:cubicBezTo>
                  <a:lnTo>
                    <a:pt x="86422" y="518426"/>
                  </a:lnTo>
                  <a:cubicBezTo>
                    <a:pt x="38692" y="518426"/>
                    <a:pt x="0" y="479734"/>
                    <a:pt x="0" y="432004"/>
                  </a:cubicBezTo>
                  <a:lnTo>
                    <a:pt x="0" y="86422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656" tIns="110656" rIns="110656" bIns="110656" numCol="1" spcCol="1270" anchor="t" anchorCtr="0">
              <a:noAutofit/>
            </a:bodyPr>
            <a:lstStyle/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200" b="1" i="0" kern="1200" dirty="0">
                  <a:solidFill>
                    <a:schemeClr val="tx1"/>
                  </a:solidFill>
                </a:rPr>
                <a:t>Order Completion Time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b="0" i="0" kern="1200" dirty="0">
                  <a:solidFill>
                    <a:schemeClr val="tx1"/>
                  </a:solidFill>
                </a:rPr>
                <a:t>Ensure throttling doesn't increase delivery time</a:t>
              </a: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DC9B59C-E17A-832C-99F4-3752EA518433}"/>
                </a:ext>
              </a:extLst>
            </p:cNvPr>
            <p:cNvSpPr/>
            <p:nvPr/>
          </p:nvSpPr>
          <p:spPr>
            <a:xfrm>
              <a:off x="5432816" y="3650075"/>
              <a:ext cx="3652817" cy="518426"/>
            </a:xfrm>
            <a:custGeom>
              <a:avLst/>
              <a:gdLst>
                <a:gd name="csX0" fmla="*/ 0 w 3652817"/>
                <a:gd name="csY0" fmla="*/ 86422 h 518426"/>
                <a:gd name="csX1" fmla="*/ 86422 w 3652817"/>
                <a:gd name="csY1" fmla="*/ 0 h 518426"/>
                <a:gd name="csX2" fmla="*/ 3566395 w 3652817"/>
                <a:gd name="csY2" fmla="*/ 0 h 518426"/>
                <a:gd name="csX3" fmla="*/ 3652817 w 3652817"/>
                <a:gd name="csY3" fmla="*/ 86422 h 518426"/>
                <a:gd name="csX4" fmla="*/ 3652817 w 3652817"/>
                <a:gd name="csY4" fmla="*/ 432004 h 518426"/>
                <a:gd name="csX5" fmla="*/ 3566395 w 3652817"/>
                <a:gd name="csY5" fmla="*/ 518426 h 518426"/>
                <a:gd name="csX6" fmla="*/ 86422 w 3652817"/>
                <a:gd name="csY6" fmla="*/ 518426 h 518426"/>
                <a:gd name="csX7" fmla="*/ 0 w 3652817"/>
                <a:gd name="csY7" fmla="*/ 432004 h 518426"/>
                <a:gd name="csX8" fmla="*/ 0 w 3652817"/>
                <a:gd name="csY8" fmla="*/ 86422 h 518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52817" h="518426">
                  <a:moveTo>
                    <a:pt x="0" y="86422"/>
                  </a:moveTo>
                  <a:cubicBezTo>
                    <a:pt x="0" y="38692"/>
                    <a:pt x="38692" y="0"/>
                    <a:pt x="86422" y="0"/>
                  </a:cubicBezTo>
                  <a:lnTo>
                    <a:pt x="3566395" y="0"/>
                  </a:lnTo>
                  <a:cubicBezTo>
                    <a:pt x="3614125" y="0"/>
                    <a:pt x="3652817" y="38692"/>
                    <a:pt x="3652817" y="86422"/>
                  </a:cubicBezTo>
                  <a:lnTo>
                    <a:pt x="3652817" y="432004"/>
                  </a:lnTo>
                  <a:cubicBezTo>
                    <a:pt x="3652817" y="479734"/>
                    <a:pt x="3614125" y="518426"/>
                    <a:pt x="3566395" y="518426"/>
                  </a:cubicBezTo>
                  <a:lnTo>
                    <a:pt x="86422" y="518426"/>
                  </a:lnTo>
                  <a:cubicBezTo>
                    <a:pt x="38692" y="518426"/>
                    <a:pt x="0" y="479734"/>
                    <a:pt x="0" y="432004"/>
                  </a:cubicBezTo>
                  <a:lnTo>
                    <a:pt x="0" y="86422"/>
                  </a:lnTo>
                  <a:close/>
                </a:path>
              </a:pathLst>
            </a:custGeom>
            <a:noFill/>
            <a:ln>
              <a:solidFill>
                <a:srgbClr val="ED7D3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656" tIns="110656" rIns="110656" bIns="110656" numCol="1" spcCol="1270" anchor="t" anchorCtr="0">
              <a:noAutofit/>
            </a:bodyPr>
            <a:lstStyle/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200" b="1" i="0" kern="1200" dirty="0">
                  <a:solidFill>
                    <a:schemeClr val="tx1"/>
                  </a:solidFill>
                </a:rPr>
                <a:t>Restaurant Churn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b="0" i="0" kern="1200" dirty="0">
                  <a:solidFill>
                    <a:schemeClr val="tx1"/>
                  </a:solidFill>
                </a:rPr>
                <a:t>Ensure new tools don't burden restaurants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50E3103-A7EE-3D3B-82CD-B9B0A0B7E230}"/>
              </a:ext>
            </a:extLst>
          </p:cNvPr>
          <p:cNvSpPr txBox="1"/>
          <p:nvPr/>
        </p:nvSpPr>
        <p:spPr>
          <a:xfrm>
            <a:off x="3305121" y="2984857"/>
            <a:ext cx="1360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IN" sz="1400" b="1" i="0" dirty="0">
                <a:solidFill>
                  <a:srgbClr val="29A36A"/>
                </a:solidFill>
                <a:effectLst/>
                <a:latin typeface="ui-sans-serif"/>
              </a:rPr>
              <a:t>&gt;95%</a:t>
            </a:r>
          </a:p>
          <a:p>
            <a:pPr algn="r">
              <a:buNone/>
            </a:pPr>
            <a:r>
              <a:rPr lang="en-IN" sz="1400" b="0" i="0" dirty="0">
                <a:effectLst/>
                <a:latin typeface="ui-sans-serif"/>
              </a:rPr>
              <a:t>Target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08260B-C6BE-88FD-F880-8EEB36F5D26D}"/>
              </a:ext>
            </a:extLst>
          </p:cNvPr>
          <p:cNvSpPr txBox="1"/>
          <p:nvPr/>
        </p:nvSpPr>
        <p:spPr>
          <a:xfrm>
            <a:off x="3969695" y="3641735"/>
            <a:ext cx="679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IN" sz="1400" b="1" i="0" dirty="0">
                <a:solidFill>
                  <a:srgbClr val="29A36A"/>
                </a:solidFill>
                <a:effectLst/>
                <a:latin typeface="ui-sans-serif"/>
              </a:rPr>
              <a:t>&gt;40%</a:t>
            </a:r>
          </a:p>
          <a:p>
            <a:pPr algn="r">
              <a:buNone/>
            </a:pPr>
            <a:r>
              <a:rPr lang="en-IN" sz="1400" b="0" i="0" dirty="0">
                <a:effectLst/>
                <a:latin typeface="ui-sans-serif"/>
              </a:rPr>
              <a:t>Target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C7B347-0D23-B2A0-FF37-AD07E9D09183}"/>
              </a:ext>
            </a:extLst>
          </p:cNvPr>
          <p:cNvSpPr txBox="1"/>
          <p:nvPr/>
        </p:nvSpPr>
        <p:spPr>
          <a:xfrm>
            <a:off x="8190690" y="3065274"/>
            <a:ext cx="906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IN" sz="1400" b="1" i="0" dirty="0">
                <a:solidFill>
                  <a:srgbClr val="F59F0A"/>
                </a:solidFill>
                <a:effectLst/>
                <a:latin typeface="ui-sans-serif"/>
              </a:rPr>
              <a:t>&lt;40 min</a:t>
            </a:r>
          </a:p>
          <a:p>
            <a:pPr algn="r">
              <a:buNone/>
            </a:pPr>
            <a:r>
              <a:rPr lang="en-IN" sz="1400" b="0" i="0" dirty="0">
                <a:effectLst/>
                <a:latin typeface="ui-sans-serif"/>
              </a:rPr>
              <a:t>Limit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20AFB2-89EB-AB93-4D6D-4C05678B8269}"/>
              </a:ext>
            </a:extLst>
          </p:cNvPr>
          <p:cNvSpPr txBox="1"/>
          <p:nvPr/>
        </p:nvSpPr>
        <p:spPr>
          <a:xfrm>
            <a:off x="8357680" y="3677867"/>
            <a:ext cx="7247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IN" sz="1400" b="1" i="0" dirty="0">
                <a:solidFill>
                  <a:srgbClr val="F59F0A"/>
                </a:solidFill>
                <a:effectLst/>
                <a:latin typeface="ui-sans-serif"/>
              </a:rPr>
              <a:t>&lt;3%</a:t>
            </a:r>
          </a:p>
          <a:p>
            <a:pPr algn="r">
              <a:buNone/>
            </a:pPr>
            <a:r>
              <a:rPr lang="en-IN" sz="1400" b="0" i="0" dirty="0">
                <a:effectLst/>
                <a:latin typeface="ui-sans-serif"/>
              </a:rPr>
              <a:t>Limit</a:t>
            </a:r>
          </a:p>
          <a:p>
            <a:pPr>
              <a:buNone/>
            </a:pPr>
            <a:br>
              <a:rPr lang="en-IN" sz="1400" b="0" i="0" dirty="0">
                <a:solidFill>
                  <a:srgbClr val="141D2E"/>
                </a:solidFill>
                <a:effectLst/>
                <a:latin typeface="ui-sans-serif"/>
              </a:rPr>
            </a:br>
            <a:endParaRPr lang="en-IN" sz="14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869B48-C68B-F715-57D9-08955B5F6132}"/>
              </a:ext>
            </a:extLst>
          </p:cNvPr>
          <p:cNvSpPr/>
          <p:nvPr/>
        </p:nvSpPr>
        <p:spPr>
          <a:xfrm>
            <a:off x="275617" y="4327507"/>
            <a:ext cx="8411183" cy="815993"/>
          </a:xfrm>
          <a:prstGeom prst="rect">
            <a:avLst/>
          </a:prstGeom>
          <a:solidFill>
            <a:schemeClr val="accent6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A24674F-3BFB-1009-6A2D-E7813EF4E0A1}"/>
              </a:ext>
            </a:extLst>
          </p:cNvPr>
          <p:cNvCxnSpPr>
            <a:cxnSpLocks/>
          </p:cNvCxnSpPr>
          <p:nvPr/>
        </p:nvCxnSpPr>
        <p:spPr>
          <a:xfrm flipH="1">
            <a:off x="275617" y="4327507"/>
            <a:ext cx="1" cy="815993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69D0270-F0FE-BD43-2B16-71373FE8510D}"/>
              </a:ext>
            </a:extLst>
          </p:cNvPr>
          <p:cNvSpPr txBox="1"/>
          <p:nvPr/>
        </p:nvSpPr>
        <p:spPr>
          <a:xfrm>
            <a:off x="288587" y="4312661"/>
            <a:ext cx="45946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rgbClr val="141D2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Expected Outcome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626D8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By implementing these solutions over 8-10 weeks, we expect: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313D8E-1D6E-98DB-A950-EAD6BEEFD1DA}"/>
              </a:ext>
            </a:extLst>
          </p:cNvPr>
          <p:cNvSpPr txBox="1"/>
          <p:nvPr/>
        </p:nvSpPr>
        <p:spPr>
          <a:xfrm>
            <a:off x="265847" y="4729048"/>
            <a:ext cx="2476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200" b="1" i="0" dirty="0">
                <a:solidFill>
                  <a:srgbClr val="29A36A"/>
                </a:solidFill>
                <a:effectLst/>
                <a:latin typeface="Space Grotesk"/>
              </a:rPr>
              <a:t>70%</a:t>
            </a:r>
          </a:p>
          <a:p>
            <a:pPr algn="ctr">
              <a:buNone/>
            </a:pPr>
            <a:r>
              <a:rPr lang="en-IN" sz="1200" b="0" i="0" dirty="0">
                <a:solidFill>
                  <a:srgbClr val="626D84"/>
                </a:solidFill>
                <a:effectLst/>
                <a:latin typeface="ui-sans-serif"/>
              </a:rPr>
              <a:t>Reduction in cancellations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4B69C5-549D-751D-444A-0A756603233D}"/>
              </a:ext>
            </a:extLst>
          </p:cNvPr>
          <p:cNvSpPr txBox="1"/>
          <p:nvPr/>
        </p:nvSpPr>
        <p:spPr>
          <a:xfrm>
            <a:off x="2719335" y="4688617"/>
            <a:ext cx="21262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200" b="1" i="0" dirty="0">
                <a:solidFill>
                  <a:srgbClr val="29A36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+25%</a:t>
            </a:r>
          </a:p>
          <a:p>
            <a:pPr algn="ctr">
              <a:buNone/>
            </a:pPr>
            <a:r>
              <a:rPr lang="en-IN" sz="1200" b="0" i="0" dirty="0">
                <a:solidFill>
                  <a:srgbClr val="626D8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Orders per month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D517F00-51D9-899D-A1F8-C3ACFF260628}"/>
              </a:ext>
            </a:extLst>
          </p:cNvPr>
          <p:cNvSpPr txBox="1"/>
          <p:nvPr/>
        </p:nvSpPr>
        <p:spPr>
          <a:xfrm>
            <a:off x="4481208" y="4653137"/>
            <a:ext cx="2421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200" b="1" i="0" dirty="0">
                <a:solidFill>
                  <a:srgbClr val="29A36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+10 pts</a:t>
            </a:r>
          </a:p>
          <a:p>
            <a:pPr algn="ctr">
              <a:buNone/>
            </a:pPr>
            <a:r>
              <a:rPr lang="en-IN" sz="1200" b="0" i="0" dirty="0">
                <a:solidFill>
                  <a:srgbClr val="626D8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NPS improvement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63217FF-8841-9C16-4B79-6DF04F16CD93}"/>
              </a:ext>
            </a:extLst>
          </p:cNvPr>
          <p:cNvSpPr txBox="1"/>
          <p:nvPr/>
        </p:nvSpPr>
        <p:spPr>
          <a:xfrm>
            <a:off x="6370860" y="4624439"/>
            <a:ext cx="2726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200" b="1" i="0" dirty="0">
                <a:solidFill>
                  <a:srgbClr val="29A36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₹2.7L</a:t>
            </a:r>
          </a:p>
          <a:p>
            <a:pPr algn="ctr">
              <a:buNone/>
            </a:pPr>
            <a:r>
              <a:rPr lang="en-IN" sz="1200" b="0" i="0" dirty="0">
                <a:solidFill>
                  <a:srgbClr val="626D8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Monthly GMV recovered</a:t>
            </a:r>
          </a:p>
        </p:txBody>
      </p:sp>
      <p:pic>
        <p:nvPicPr>
          <p:cNvPr id="69" name="Graphic 68" descr="Clock with solid fill">
            <a:extLst>
              <a:ext uri="{FF2B5EF4-FFF2-40B4-BE49-F238E27FC236}">
                <a16:creationId xmlns:a16="http://schemas.microsoft.com/office/drawing/2014/main" id="{7F84B48F-FE41-B381-0F4F-138F0DA9F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2897" y="3062734"/>
            <a:ext cx="518426" cy="518426"/>
          </a:xfrm>
          <a:prstGeom prst="rect">
            <a:avLst/>
          </a:prstGeom>
        </p:spPr>
      </p:pic>
      <p:pic>
        <p:nvPicPr>
          <p:cNvPr id="70" name="Graphic 69" descr="Clock with solid fill">
            <a:extLst>
              <a:ext uri="{FF2B5EF4-FFF2-40B4-BE49-F238E27FC236}">
                <a16:creationId xmlns:a16="http://schemas.microsoft.com/office/drawing/2014/main" id="{BCF3D64B-9952-9529-21AA-167BEC33EC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715" y="3593465"/>
            <a:ext cx="518426" cy="518426"/>
          </a:xfrm>
          <a:prstGeom prst="rect">
            <a:avLst/>
          </a:prstGeom>
        </p:spPr>
      </p:pic>
      <p:pic>
        <p:nvPicPr>
          <p:cNvPr id="72" name="Graphic 71" descr="Gavel with solid fill">
            <a:extLst>
              <a:ext uri="{FF2B5EF4-FFF2-40B4-BE49-F238E27FC236}">
                <a16:creationId xmlns:a16="http://schemas.microsoft.com/office/drawing/2014/main" id="{A14C3525-FD40-ADC4-B121-772B0DFB3D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17589" y="3617499"/>
            <a:ext cx="523221" cy="523221"/>
          </a:xfrm>
          <a:prstGeom prst="rect">
            <a:avLst/>
          </a:prstGeom>
        </p:spPr>
      </p:pic>
      <p:pic>
        <p:nvPicPr>
          <p:cNvPr id="74" name="Graphic 73" descr="Bar chart with solid fill">
            <a:extLst>
              <a:ext uri="{FF2B5EF4-FFF2-40B4-BE49-F238E27FC236}">
                <a16:creationId xmlns:a16="http://schemas.microsoft.com/office/drawing/2014/main" id="{04CCF04D-1690-356D-BA8E-817672AB9C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5245" y="2951154"/>
            <a:ext cx="487365" cy="4873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711</Words>
  <Application>Microsoft Office PowerPoint</Application>
  <PresentationFormat>On-screen Show (16:9)</PresentationFormat>
  <Paragraphs>202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Space Grotesk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FoodSwift Order Drop Crisis - Case Study</dc:title>
  <dc:subject>Product Case Study</dc:subject>
  <dc:creator>FoodSwift</dc:creator>
  <cp:lastModifiedBy>Ankit Pareek</cp:lastModifiedBy>
  <cp:revision>2</cp:revision>
  <dcterms:created xsi:type="dcterms:W3CDTF">2025-12-23T12:58:56Z</dcterms:created>
  <dcterms:modified xsi:type="dcterms:W3CDTF">2026-02-05T08:32:34Z</dcterms:modified>
</cp:coreProperties>
</file>